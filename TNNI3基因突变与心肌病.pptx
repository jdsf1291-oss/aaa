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TNNI3 基因与心肌肌钙蛋白 I（cTnI）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7607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8C6DD"/>
                </a:solidFill>
                <a:latin typeface="Microsoft YaHei"/>
                <a:ea typeface="Microsoft YaHei"/>
              </a:rPr>
              <a:t>TNNI3 Gene and Cardiac Troponin I: Structure and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B8C6DD"/>
                </a:solidFill>
                <a:latin typeface="Microsoft YaHei"/>
                <a:ea typeface="Microsoft YaHei"/>
              </a:rPr>
              <a:t>1 /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5577840" cy="237744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E5EAA"/>
                </a:solidFill>
                <a:latin typeface="Microsoft YaHei"/>
                <a:ea typeface="Microsoft YaHei"/>
              </a:rPr>
              <a:t>基因与蛋白概况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512064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5EAA"/>
                </a:solidFill>
                <a:latin typeface="Microsoft YaHei"/>
                <a:ea typeface="Microsoft YaHei"/>
              </a:rPr>
              <a:t>▪ </a:t>
            </a:r>
            <a:r>
              <a:rPr sz="1250" b="1" i="0">
                <a:solidFill>
                  <a:srgbClr val="2E5EAA"/>
                </a:solidFill>
                <a:latin typeface="Microsoft YaHei"/>
                <a:ea typeface="Microsoft YaHei"/>
              </a:rPr>
              <a:t>定位：</a:t>
            </a: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</a:rPr>
              <a:t>染色体 19q13.4，编码心肌肌钙蛋白 I（cTnI，210 aa）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5EAA"/>
                </a:solidFill>
                <a:latin typeface="Microsoft YaHei"/>
                <a:ea typeface="Microsoft YaHei"/>
              </a:rPr>
              <a:t>▪ </a:t>
            </a:r>
            <a:r>
              <a:rPr sz="1250" b="1" i="0">
                <a:solidFill>
                  <a:srgbClr val="2E5EAA"/>
                </a:solidFill>
                <a:latin typeface="Microsoft YaHei"/>
                <a:ea typeface="Microsoft YaHei"/>
              </a:rPr>
              <a:t>功能：</a:t>
            </a: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</a:rPr>
              <a:t>肌钙蛋白复合物（TnI–TnT–TnC）的抑制亚基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5EAA"/>
                </a:solidFill>
                <a:latin typeface="Microsoft YaHei"/>
                <a:ea typeface="Microsoft YaHei"/>
              </a:rPr>
              <a:t>▪ </a:t>
            </a:r>
            <a:r>
              <a:rPr sz="1250" b="1" i="0">
                <a:solidFill>
                  <a:srgbClr val="2E5EAA"/>
                </a:solidFill>
                <a:latin typeface="Microsoft YaHei"/>
                <a:ea typeface="Microsoft YaHei"/>
              </a:rPr>
              <a:t>低钙状态：</a:t>
            </a: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</a:rPr>
              <a:t>cTnI 结合肌动蛋白–原肌球蛋白，抑制肌动球蛋白 ATP 酶 → 阻止收缩（维持舒张）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5EAA"/>
                </a:solidFill>
                <a:latin typeface="Microsoft YaHei"/>
                <a:ea typeface="Microsoft YaHei"/>
              </a:rPr>
              <a:t>▪ </a:t>
            </a:r>
            <a:r>
              <a:rPr sz="1250" b="1" i="0">
                <a:solidFill>
                  <a:srgbClr val="2E5EAA"/>
                </a:solidFill>
                <a:latin typeface="Microsoft YaHei"/>
                <a:ea typeface="Microsoft YaHei"/>
              </a:rPr>
              <a:t>高钙状态：</a:t>
            </a: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</a:rPr>
              <a:t>Ca²⁺ 结合 TnC → cTnI 开关区与 TnC 结合，解除抑制 → 收缩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577840" cy="2377440"/>
          </a:xfrm>
          <a:prstGeom prst="roundRect">
            <a:avLst>
              <a:gd name="adj" fmla="val 8000"/>
            </a:avLst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173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C03A2B"/>
                </a:solidFill>
                <a:latin typeface="Microsoft YaHei"/>
                <a:ea typeface="Microsoft YaHei"/>
              </a:rPr>
              <a:t>突变谱概览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512064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C03A2B"/>
                </a:solidFill>
                <a:latin typeface="Microsoft YaHei"/>
                <a:ea typeface="Microsoft YaHei"/>
              </a:rPr>
              <a:t>▪ </a:t>
            </a:r>
            <a:r>
              <a:rPr sz="1250" b="1" i="0">
                <a:solidFill>
                  <a:srgbClr val="C03A2B"/>
                </a:solidFill>
                <a:latin typeface="Microsoft YaHei"/>
                <a:ea typeface="Microsoft YaHei"/>
              </a:rPr>
              <a:t>表型谱：</a:t>
            </a: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</a:rPr>
              <a:t>同一基因可致 HCM、RCM、DCM 三种心肌病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C03A2B"/>
                </a:solidFill>
                <a:latin typeface="Microsoft YaHei"/>
                <a:ea typeface="Microsoft YaHei"/>
              </a:rPr>
              <a:t>▪ </a:t>
            </a:r>
            <a:r>
              <a:rPr sz="1250" b="1" i="0">
                <a:solidFill>
                  <a:srgbClr val="C03A2B"/>
                </a:solidFill>
                <a:latin typeface="Microsoft YaHei"/>
                <a:ea typeface="Microsoft YaHei"/>
              </a:rPr>
              <a:t>占比：</a:t>
            </a: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</a:rPr>
              <a:t>约 5% 的 HCM；遗传性 RCM 的最常见致病基因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C03A2B"/>
                </a:solidFill>
                <a:latin typeface="Microsoft YaHei"/>
                <a:ea typeface="Microsoft YaHei"/>
              </a:rPr>
              <a:t>▪ </a:t>
            </a:r>
            <a:r>
              <a:rPr sz="1250" b="1" i="0">
                <a:solidFill>
                  <a:srgbClr val="C03A2B"/>
                </a:solidFill>
                <a:latin typeface="Microsoft YaHei"/>
                <a:ea typeface="Microsoft YaHei"/>
              </a:rPr>
              <a:t>热点区：</a:t>
            </a: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</a:rPr>
              <a:t>显性致病突变高度集中于 C 端 1/3（残基 141–209）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C03A2B"/>
                </a:solidFill>
                <a:latin typeface="Microsoft YaHei"/>
                <a:ea typeface="Microsoft YaHei"/>
              </a:rPr>
              <a:t>▪ </a:t>
            </a:r>
            <a:r>
              <a:rPr sz="1250" b="1" i="0">
                <a:solidFill>
                  <a:srgbClr val="C03A2B"/>
                </a:solidFill>
                <a:latin typeface="Microsoft YaHei"/>
                <a:ea typeface="Microsoft YaHei"/>
              </a:rPr>
              <a:t>遗传方式：</a:t>
            </a: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</a:rPr>
              <a:t>多为常染色体显性错义突变；双等位（隐性）截短变异见于婴幼儿重症 DCM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886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B2A4A"/>
                </a:solidFill>
                <a:latin typeface="Microsoft YaHei"/>
                <a:ea typeface="Microsoft YaHei"/>
              </a:rPr>
              <a:t>cTnI 功能结构域（1–210 aa）— 致病突变热点区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434840"/>
            <a:ext cx="1567542" cy="566928"/>
          </a:xfrm>
          <a:prstGeom prst="rect">
            <a:avLst/>
          </a:prstGeom>
          <a:solidFill>
            <a:srgbClr val="8A9BB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</a:rPr>
              <a:t>N 端延伸段</a:t>
            </a:r>
          </a:p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</a:rPr>
              <a:t>(Ser23/24 磷酸化)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07622" y="4434840"/>
            <a:ext cx="5538651" cy="566928"/>
          </a:xfrm>
          <a:prstGeom prst="rect">
            <a:avLst/>
          </a:prstGeom>
          <a:solidFill>
            <a:srgbClr val="B9C8D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</a:rPr>
              <a:t>TnC / TnT 结合区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46274" y="4434840"/>
            <a:ext cx="627017" cy="566928"/>
          </a:xfrm>
          <a:prstGeom prst="rect">
            <a:avLst/>
          </a:prstGeom>
          <a:solidFill>
            <a:srgbClr val="C03A2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抑制区</a:t>
            </a:r>
          </a:p>
          <a:p>
            <a:pPr algn="ctr"/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137–148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73291" y="4434840"/>
            <a:ext cx="783771" cy="566928"/>
          </a:xfrm>
          <a:prstGeom prst="rect">
            <a:avLst/>
          </a:prstGeom>
          <a:solidFill>
            <a:srgbClr val="D97B2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开关区</a:t>
            </a:r>
          </a:p>
          <a:p>
            <a:pPr algn="ctr"/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149–163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57062" y="4434840"/>
            <a:ext cx="2455817" cy="566928"/>
          </a:xfrm>
          <a:prstGeom prst="rect">
            <a:avLst/>
          </a:prstGeom>
          <a:solidFill>
            <a:srgbClr val="2E5EA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C 端移动区 164–210</a:t>
            </a:r>
          </a:p>
          <a:p>
            <a:pPr algn="ctr"/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(173–181 结合肌动蛋白)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46274" y="5093208"/>
            <a:ext cx="3866605" cy="45720"/>
          </a:xfrm>
          <a:prstGeom prst="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5184648"/>
            <a:ext cx="6766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03A2B"/>
                </a:solidFill>
                <a:latin typeface="Microsoft YaHei"/>
                <a:ea typeface="Microsoft YaHei"/>
              </a:rPr>
              <a:t>突变热点区（141–209）：抑制区 · 开关区 · 肌动蛋白结合区 · C 端保守肽段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B2A4A"/>
                </a:solidFill>
                <a:latin typeface="Microsoft YaHei"/>
                <a:ea typeface="Microsoft YaHei"/>
              </a:rPr>
              <a:t>关键机制：</a:t>
            </a:r>
            <a:r>
              <a:rPr sz="1250" b="0" i="0">
                <a:solidFill>
                  <a:srgbClr val="5A5A5A"/>
                </a:solidFill>
                <a:latin typeface="Microsoft YaHei"/>
                <a:ea typeface="Microsoft YaHei"/>
              </a:rPr>
              <a:t>这些结构域共同决定“抑制—解除抑制”的钙调控开关；突变通过改变肌丝钙敏感性与抑制功能导致不同表型的心肌病。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TNNI3 突变的三种心肌病表型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7607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8C6DD"/>
                </a:solidFill>
                <a:latin typeface="Microsoft YaHei"/>
                <a:ea typeface="Microsoft YaHei"/>
              </a:rPr>
              <a:t>One Gene, Three Phenotypes: HCM · RCM · DCM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B8C6DD"/>
                </a:solidFill>
                <a:latin typeface="Microsoft YaHei"/>
                <a:ea typeface="Microsoft YaHei"/>
              </a:rPr>
              <a:t>2 /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3703320" cy="4572000"/>
          </a:xfrm>
          <a:prstGeom prst="roundRect">
            <a:avLst>
              <a:gd name="adj" fmla="val 8000"/>
            </a:avLst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280160"/>
            <a:ext cx="3703320" cy="566928"/>
          </a:xfrm>
          <a:prstGeom prst="roundRect">
            <a:avLst>
              <a:gd name="adj" fmla="val 18000"/>
            </a:avLst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71600"/>
            <a:ext cx="3703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</a:rPr>
              <a:t>HCM 肥厚型心肌病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93392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3A2B"/>
                </a:solidFill>
                <a:latin typeface="Microsoft YaHei"/>
                <a:ea typeface="Microsoft YaHei"/>
              </a:rPr>
              <a:t>最常见（约 85% 的报道突变）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95728"/>
            <a:ext cx="32461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C03A2B"/>
                </a:solidFill>
                <a:latin typeface="Microsoft YaHei"/>
                <a:ea typeface="Microsoft YaHei"/>
              </a:rPr>
              <a:t>▪ </a:t>
            </a:r>
            <a:r>
              <a:rPr sz="1150" b="1" i="0">
                <a:solidFill>
                  <a:srgbClr val="C03A2B"/>
                </a:solidFill>
                <a:latin typeface="Microsoft YaHei"/>
                <a:ea typeface="Microsoft YaHei"/>
              </a:rPr>
              <a:t>遗传：</a:t>
            </a: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</a:rPr>
              <a:t>常染色体显性错义突变，位于 C 端功能区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C03A2B"/>
                </a:solidFill>
                <a:latin typeface="Microsoft YaHei"/>
                <a:ea typeface="Microsoft YaHei"/>
              </a:rPr>
              <a:t>▪ </a:t>
            </a:r>
            <a:r>
              <a:rPr sz="1150" b="1" i="0">
                <a:solidFill>
                  <a:srgbClr val="C03A2B"/>
                </a:solidFill>
                <a:latin typeface="Microsoft YaHei"/>
                <a:ea typeface="Microsoft YaHei"/>
              </a:rPr>
              <a:t>代表突变：</a:t>
            </a: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</a:rPr>
              <a:t>R145G/Q、S166F、R170W/Q、K183del、G203S、K206Q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C03A2B"/>
                </a:solidFill>
                <a:latin typeface="Microsoft YaHei"/>
                <a:ea typeface="Microsoft YaHei"/>
              </a:rPr>
              <a:t>▪ </a:t>
            </a:r>
            <a:r>
              <a:rPr sz="1150" b="1" i="0">
                <a:solidFill>
                  <a:srgbClr val="C03A2B"/>
                </a:solidFill>
                <a:latin typeface="Microsoft YaHei"/>
                <a:ea typeface="Microsoft YaHei"/>
              </a:rPr>
              <a:t>临床特点：</a:t>
            </a: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</a:rPr>
              <a:t>心尖肥厚多见；肥厚程度和流出道梗阻较轻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C03A2B"/>
                </a:solidFill>
                <a:latin typeface="Microsoft YaHei"/>
                <a:ea typeface="Microsoft YaHei"/>
              </a:rPr>
              <a:t>▪ </a:t>
            </a:r>
            <a:r>
              <a:rPr sz="1150" b="1" i="0">
                <a:solidFill>
                  <a:srgbClr val="C03A2B"/>
                </a:solidFill>
                <a:latin typeface="Microsoft YaHei"/>
                <a:ea typeface="Microsoft YaHei"/>
              </a:rPr>
              <a:t>注意：</a:t>
            </a: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</a:rPr>
              <a:t>猝死（SCD）风险偏高，可伴限制型生理表现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280160"/>
            <a:ext cx="3703320" cy="4572000"/>
          </a:xfrm>
          <a:prstGeom prst="roundRect">
            <a:avLst>
              <a:gd name="adj" fmla="val 8000"/>
            </a:avLst>
          </a:prstGeom>
          <a:solidFill>
            <a:srgbClr val="FC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88536" y="1280160"/>
            <a:ext cx="3703320" cy="566928"/>
          </a:xfrm>
          <a:prstGeom prst="roundRect">
            <a:avLst>
              <a:gd name="adj" fmla="val 18000"/>
            </a:avLst>
          </a:prstGeom>
          <a:solidFill>
            <a:srgbClr val="D97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88536" y="1371600"/>
            <a:ext cx="3703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</a:rPr>
              <a:t>RCM 限制型心肌病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1993392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97B29"/>
                </a:solidFill>
                <a:latin typeface="Microsoft YaHei"/>
                <a:ea typeface="Microsoft YaHei"/>
              </a:rPr>
              <a:t>TNNI3 是遗传性 RCM 首要致病基因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395728"/>
            <a:ext cx="32461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D97B29"/>
                </a:solidFill>
                <a:latin typeface="Microsoft YaHei"/>
                <a:ea typeface="Microsoft YaHei"/>
              </a:rPr>
              <a:t>▪ </a:t>
            </a:r>
            <a:r>
              <a:rPr sz="1150" b="1" i="0">
                <a:solidFill>
                  <a:srgbClr val="D97B29"/>
                </a:solidFill>
                <a:latin typeface="Microsoft YaHei"/>
                <a:ea typeface="Microsoft YaHei"/>
              </a:rPr>
              <a:t>遗传：</a:t>
            </a: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</a:rPr>
              <a:t>显性错义突变，可为新发（de novo），多早发、重症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D97B29"/>
                </a:solidFill>
                <a:latin typeface="Microsoft YaHei"/>
                <a:ea typeface="Microsoft YaHei"/>
              </a:rPr>
              <a:t>▪ </a:t>
            </a:r>
            <a:r>
              <a:rPr sz="1150" b="1" i="0">
                <a:solidFill>
                  <a:srgbClr val="D97B29"/>
                </a:solidFill>
                <a:latin typeface="Microsoft YaHei"/>
                <a:ea typeface="Microsoft YaHei"/>
              </a:rPr>
              <a:t>代表突变：</a:t>
            </a: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</a:rPr>
              <a:t>L144Q、R145W、A171T、K178E、D190G/H、R192H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D97B29"/>
                </a:solidFill>
                <a:latin typeface="Microsoft YaHei"/>
                <a:ea typeface="Microsoft YaHei"/>
              </a:rPr>
              <a:t>▪ </a:t>
            </a:r>
            <a:r>
              <a:rPr sz="1150" b="1" i="0">
                <a:solidFill>
                  <a:srgbClr val="D97B29"/>
                </a:solidFill>
                <a:latin typeface="Microsoft YaHei"/>
                <a:ea typeface="Microsoft YaHei"/>
              </a:rPr>
              <a:t>临床特点：</a:t>
            </a: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</a:rPr>
              <a:t>限制性充盈、严重舒张功能障碍，无明显肥厚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D97B29"/>
                </a:solidFill>
                <a:latin typeface="Microsoft YaHei"/>
                <a:ea typeface="Microsoft YaHei"/>
              </a:rPr>
              <a:t>▪ </a:t>
            </a:r>
            <a:r>
              <a:rPr sz="1150" b="1" i="0">
                <a:solidFill>
                  <a:srgbClr val="D97B29"/>
                </a:solidFill>
                <a:latin typeface="Microsoft YaHei"/>
                <a:ea typeface="Microsoft YaHei"/>
              </a:rPr>
              <a:t>注意：</a:t>
            </a: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</a:rPr>
              <a:t>同一家系内 HCM 与 RCM 可并存（同一疾病谱）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5592" y="1280160"/>
            <a:ext cx="3703320" cy="4572000"/>
          </a:xfrm>
          <a:prstGeom prst="roundRect">
            <a:avLst>
              <a:gd name="adj" fmla="val 8000"/>
            </a:avLst>
          </a:prstGeom>
          <a:solidFill>
            <a:srgbClr val="E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65592" y="1280160"/>
            <a:ext cx="3703320" cy="566928"/>
          </a:xfrm>
          <a:prstGeom prst="roundRect">
            <a:avLst>
              <a:gd name="adj" fmla="val 18000"/>
            </a:avLst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1371600"/>
            <a:ext cx="3703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</a:rPr>
              <a:t>DCM 扩张型心肌病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1993392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8A70"/>
                </a:solidFill>
                <a:latin typeface="Microsoft YaHei"/>
                <a:ea typeface="Microsoft YaHei"/>
              </a:rPr>
              <a:t>相对少见，分两种遗传模式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2395728"/>
            <a:ext cx="32461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1F8A70"/>
                </a:solidFill>
                <a:latin typeface="Microsoft YaHei"/>
                <a:ea typeface="Microsoft YaHei"/>
              </a:rPr>
              <a:t>▪ </a:t>
            </a:r>
            <a:r>
              <a:rPr sz="1150" b="1" i="0">
                <a:solidFill>
                  <a:srgbClr val="1F8A70"/>
                </a:solidFill>
                <a:latin typeface="Microsoft YaHei"/>
                <a:ea typeface="Microsoft YaHei"/>
              </a:rPr>
              <a:t>显性错义：</a:t>
            </a: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</a:rPr>
              <a:t>K36Q（N 端区）、N185K → 钙敏感性降低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1F8A70"/>
                </a:solidFill>
                <a:latin typeface="Microsoft YaHei"/>
                <a:ea typeface="Microsoft YaHei"/>
              </a:rPr>
              <a:t>▪ </a:t>
            </a:r>
            <a:r>
              <a:rPr sz="1150" b="1" i="0">
                <a:solidFill>
                  <a:srgbClr val="1F8A70"/>
                </a:solidFill>
                <a:latin typeface="Microsoft YaHei"/>
                <a:ea typeface="Microsoft YaHei"/>
              </a:rPr>
              <a:t>隐性双等位：</a:t>
            </a: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</a:rPr>
              <a:t>纯合 A2V；双等位截短变异（如 R98*、R136*）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1F8A70"/>
                </a:solidFill>
                <a:latin typeface="Microsoft YaHei"/>
                <a:ea typeface="Microsoft YaHei"/>
              </a:rPr>
              <a:t>▪ </a:t>
            </a:r>
            <a:r>
              <a:rPr sz="1150" b="1" i="0">
                <a:solidFill>
                  <a:srgbClr val="1F8A70"/>
                </a:solidFill>
                <a:latin typeface="Microsoft YaHei"/>
                <a:ea typeface="Microsoft YaHei"/>
              </a:rPr>
              <a:t>临床特点：</a:t>
            </a: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</a:rPr>
              <a:t>双等位截短 → 婴幼儿期（&lt;2 岁）重症 DCM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1F8A70"/>
                </a:solidFill>
                <a:latin typeface="Microsoft YaHei"/>
                <a:ea typeface="Microsoft YaHei"/>
              </a:rPr>
              <a:t>▪ </a:t>
            </a:r>
            <a:r>
              <a:rPr sz="1150" b="1" i="0">
                <a:solidFill>
                  <a:srgbClr val="1F8A70"/>
                </a:solidFill>
                <a:latin typeface="Microsoft YaHei"/>
                <a:ea typeface="Microsoft YaHei"/>
              </a:rPr>
              <a:t>注意：</a:t>
            </a: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</a:rPr>
              <a:t>常需心脏移植或早期死亡；预后差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989320"/>
            <a:ext cx="11384280" cy="658368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089904"/>
            <a:ext cx="10881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E5EAA"/>
                </a:solidFill>
                <a:latin typeface="Microsoft YaHei"/>
                <a:ea typeface="Microsoft YaHei"/>
              </a:rPr>
              <a:t>表型重叠：</a:t>
            </a: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</a:rPr>
              <a:t>同一突变（如开关区 A157V）在同一家系中可分别表现为 HCM、RCM 甚至 DCM —— 提示遗传修饰因素与环境共同影响最终表型。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机制统一解释与临床意义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7607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8C6DD"/>
                </a:solidFill>
                <a:latin typeface="Microsoft YaHei"/>
                <a:ea typeface="Microsoft YaHei"/>
              </a:rPr>
              <a:t>The Calcium-Sensitivity Spectrum and Clinical Implications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B8C6DD"/>
                </a:solidFill>
                <a:latin typeface="Microsoft YaHei"/>
                <a:ea typeface="Microsoft YaHei"/>
              </a:rPr>
              <a:t>3 /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B2A4A"/>
                </a:solidFill>
                <a:latin typeface="Microsoft YaHei"/>
                <a:ea typeface="Microsoft YaHei"/>
              </a:rPr>
              <a:t>“钙敏感性连续谱”：功能改变方向决定表型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645920"/>
            <a:ext cx="3200400" cy="713232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2971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2222"/>
                </a:solidFill>
                <a:latin typeface="Microsoft YaHei"/>
                <a:ea typeface="Microsoft YaHei"/>
              </a:rPr>
              <a:t>钙敏感性中度升高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703320" y="1865376"/>
            <a:ext cx="502920" cy="274320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1645920"/>
            <a:ext cx="1828800" cy="713232"/>
          </a:xfrm>
          <a:prstGeom prst="roundRect">
            <a:avLst>
              <a:gd name="adj" fmla="val 15000"/>
            </a:avLst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645920"/>
            <a:ext cx="1828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HCM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45920"/>
            <a:ext cx="5577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</a:rPr>
              <a:t>抑制功能部分受损 → 收缩过度激活、舒张受损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450592"/>
            <a:ext cx="3200400" cy="713232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450592"/>
            <a:ext cx="2971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2222"/>
                </a:solidFill>
                <a:latin typeface="Microsoft YaHei"/>
                <a:ea typeface="Microsoft YaHei"/>
              </a:rPr>
              <a:t>钙敏感性大幅升高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2222"/>
                </a:solidFill>
                <a:latin typeface="Microsoft YaHei"/>
                <a:ea typeface="Microsoft YaHei"/>
              </a:rPr>
              <a:t>（ΔpCa₅₀ 0.36–0.47）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703320" y="2670048"/>
            <a:ext cx="502920" cy="274320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97680" y="2450592"/>
            <a:ext cx="1828800" cy="713232"/>
          </a:xfrm>
          <a:prstGeom prst="roundRect">
            <a:avLst>
              <a:gd name="adj" fmla="val 15000"/>
            </a:avLst>
          </a:prstGeom>
          <a:solidFill>
            <a:srgbClr val="D97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2450592"/>
            <a:ext cx="1828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RCM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50592"/>
            <a:ext cx="5577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</a:rPr>
              <a:t>无钙状态下不能完全松弛 → 严重舒张功能障碍而无明显肥厚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255264"/>
            <a:ext cx="3200400" cy="713232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255264"/>
            <a:ext cx="2971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2222"/>
                </a:solidFill>
                <a:latin typeface="Microsoft YaHei"/>
                <a:ea typeface="Microsoft YaHei"/>
              </a:rPr>
              <a:t>钙敏感性降低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2222"/>
                </a:solidFill>
                <a:latin typeface="Microsoft YaHei"/>
                <a:ea typeface="Microsoft YaHei"/>
              </a:rPr>
              <a:t>最大 ATP 酶活性下降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703320" y="3474720"/>
            <a:ext cx="502920" cy="274320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97680" y="3255264"/>
            <a:ext cx="1828800" cy="713232"/>
          </a:xfrm>
          <a:prstGeom prst="roundRect">
            <a:avLst>
              <a:gd name="adj" fmla="val 15000"/>
            </a:avLst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3255264"/>
            <a:ext cx="1828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显性 DCM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255264"/>
            <a:ext cx="5577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</a:rPr>
              <a:t>收缩激活不足 → 收缩功能障碍、心腔扩大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059936"/>
            <a:ext cx="3200400" cy="713232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059936"/>
            <a:ext cx="2971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2222"/>
                </a:solidFill>
                <a:latin typeface="Microsoft YaHei"/>
                <a:ea typeface="Microsoft YaHei"/>
              </a:rPr>
              <a:t>蛋白截短 / 功能丧失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2222"/>
                </a:solidFill>
                <a:latin typeface="Microsoft YaHei"/>
                <a:ea typeface="Microsoft YaHei"/>
              </a:rPr>
              <a:t>（双等位）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703320" y="4279392"/>
            <a:ext cx="502920" cy="274320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297680" y="4059936"/>
            <a:ext cx="1828800" cy="713232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0" y="4059936"/>
            <a:ext cx="1828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隐性早发 DCM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059936"/>
            <a:ext cx="5577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</a:rPr>
              <a:t>cTnI 蛋白量显著减少 → 婴幼儿重症 DCM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4983480"/>
            <a:ext cx="11384280" cy="566928"/>
          </a:xfrm>
          <a:prstGeom prst="roundRect">
            <a:avLst>
              <a:gd name="adj" fmla="val 8000"/>
            </a:avLst>
          </a:prstGeom>
          <a:solidFill>
            <a:srgbClr val="FC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056632"/>
            <a:ext cx="10881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97B29"/>
                </a:solidFill>
                <a:latin typeface="Microsoft YaHei"/>
                <a:ea typeface="Microsoft YaHei"/>
              </a:rPr>
              <a:t>典型例证：</a:t>
            </a: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</a:rPr>
              <a:t>同一位点 145 —— R145G 致 HCM，R145W 致 RCM；钙敏感性升高幅度不同，表型即不同。R192H 丧失与原肌球蛋白结合，破坏 C 端“钙脱敏”功能。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5623560"/>
            <a:ext cx="11384280" cy="109728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69671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E5EAA"/>
                </a:solidFill>
                <a:latin typeface="Microsoft YaHei"/>
                <a:ea typeface="Microsoft YaHei"/>
              </a:rPr>
              <a:t>临床意义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007608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E5EAA"/>
                </a:solidFill>
                <a:latin typeface="Microsoft YaHei"/>
                <a:ea typeface="Microsoft YaHei"/>
              </a:rPr>
              <a:t>▪ </a:t>
            </a:r>
            <a:r>
              <a:rPr sz="1050" b="0" i="0">
                <a:solidFill>
                  <a:srgbClr val="222222"/>
                </a:solidFill>
                <a:latin typeface="Microsoft YaHei"/>
                <a:ea typeface="Microsoft YaHei"/>
              </a:rPr>
              <a:t>特发性 RCM 患者应考虑 TNNI3 基因检测；家系筛查需同时关注 RCM 与 HCM 两种表型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E5EAA"/>
                </a:solidFill>
                <a:latin typeface="Microsoft YaHei"/>
                <a:ea typeface="Microsoft YaHei"/>
              </a:rPr>
              <a:t>▪ </a:t>
            </a:r>
            <a:r>
              <a:rPr sz="1050" b="0" i="0">
                <a:solidFill>
                  <a:srgbClr val="222222"/>
                </a:solidFill>
                <a:latin typeface="Microsoft YaHei"/>
                <a:ea typeface="Microsoft YaHei"/>
              </a:rPr>
              <a:t>TNNI3-HCM 猝死风险偏高，应加强危险分层与随访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E5EAA"/>
                </a:solidFill>
                <a:latin typeface="Microsoft YaHei"/>
                <a:ea typeface="Microsoft YaHei"/>
              </a:rPr>
              <a:t>▪ </a:t>
            </a:r>
            <a:r>
              <a:rPr sz="1050" b="0" i="0">
                <a:solidFill>
                  <a:srgbClr val="222222"/>
                </a:solidFill>
                <a:latin typeface="Microsoft YaHei"/>
                <a:ea typeface="Microsoft YaHei"/>
              </a:rPr>
              <a:t>婴幼儿重症 DCM 应注意双等位截短变异（隐性遗传，父母为无症状携带者）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