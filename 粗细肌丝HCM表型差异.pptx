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粗肌丝 vs 细肌丝突变：HCM 临床表型差异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8C6DD"/>
                </a:solidFill>
                <a:latin typeface="Microsoft YaHei"/>
                <a:ea typeface="Microsoft YaHei"/>
              </a:rPr>
              <a:t>Thick vs Thin Filament HCM: Distinct Clinical Phenotypes (Front Cardiovasc Med 2022;9:972301)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87552"/>
            <a:ext cx="5687568" cy="658368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5303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2E5EAA"/>
                </a:solidFill>
                <a:latin typeface="Microsoft YaHei"/>
                <a:ea typeface="Microsoft YaHei"/>
              </a:rPr>
              <a:t>粗肌丝基因：</a:t>
            </a:r>
            <a:r>
              <a:rPr sz="1050" b="0">
                <a:solidFill>
                  <a:srgbClr val="222222"/>
                </a:solidFill>
                <a:latin typeface="Microsoft YaHei"/>
                <a:ea typeface="Microsoft YaHei"/>
              </a:rPr>
              <a:t>MYH7（β-肌球蛋白重链）、MYBPC3（肌球蛋白结合蛋白 C）、MYL2/MYL3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5A5A5A"/>
                </a:solidFill>
                <a:latin typeface="Microsoft YaHei"/>
                <a:ea typeface="Microsoft YaHei"/>
              </a:rPr>
              <a:t>—— 肌节突变中最常见、研究最充分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987552"/>
            <a:ext cx="5687568" cy="658368"/>
          </a:xfrm>
          <a:prstGeom prst="roundRect">
            <a:avLst>
              <a:gd name="adj" fmla="val 8000"/>
            </a:avLst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9944" y="1051560"/>
            <a:ext cx="5303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C03A2B"/>
                </a:solidFill>
                <a:latin typeface="Microsoft YaHei"/>
                <a:ea typeface="Microsoft YaHei"/>
              </a:rPr>
              <a:t>细肌丝基因：</a:t>
            </a:r>
            <a:r>
              <a:rPr sz="1050" b="0">
                <a:solidFill>
                  <a:srgbClr val="222222"/>
                </a:solidFill>
                <a:latin typeface="Microsoft YaHei"/>
                <a:ea typeface="Microsoft YaHei"/>
              </a:rPr>
              <a:t>TNNT2、TNNI3、TPM1、ACTC1、TNNC1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5A5A5A"/>
                </a:solidFill>
                <a:latin typeface="Microsoft YaHei"/>
                <a:ea typeface="Microsoft YaHei"/>
              </a:rPr>
              <a:t>—— 细肌丝 HCM 以 TNNI3 和 TNNT2 最常见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10512"/>
            <a:ext cx="233172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810512"/>
            <a:ext cx="21122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特征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810512"/>
            <a:ext cx="4526280" cy="365760"/>
          </a:xfrm>
          <a:prstGeom prst="rect">
            <a:avLst/>
          </a:prstGeom>
          <a:solidFill>
            <a:srgbClr val="2E5EA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1488" y="1810512"/>
            <a:ext cx="43068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粗肌丝 HCM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1810512"/>
            <a:ext cx="4690872" cy="365760"/>
          </a:xfrm>
          <a:prstGeom prst="rect">
            <a:avLst/>
          </a:prstGeom>
          <a:solidFill>
            <a:srgbClr val="C03A2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7768" y="1810512"/>
            <a:ext cx="44714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细肌丝 HCM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176272"/>
            <a:ext cx="2331720" cy="585216"/>
          </a:xfrm>
          <a:prstGeom prst="rect">
            <a:avLst/>
          </a:prstGeom>
          <a:solidFill>
            <a:srgbClr val="F4F7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2203704"/>
            <a:ext cx="211226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1B2A4A"/>
                </a:solidFill>
                <a:latin typeface="Microsoft YaHei"/>
                <a:ea typeface="Microsoft YaHei"/>
              </a:rPr>
              <a:t>肥厚程度与分布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2176272"/>
            <a:ext cx="4526280" cy="585216"/>
          </a:xfrm>
          <a:prstGeom prst="rect">
            <a:avLst/>
          </a:prstGeom>
          <a:solidFill>
            <a:srgbClr val="F4F7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1488" y="2203704"/>
            <a:ext cx="430682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经典表现：非对称室间隔肥厚，程度较重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2176272"/>
            <a:ext cx="4690872" cy="585216"/>
          </a:xfrm>
          <a:prstGeom prst="rect">
            <a:avLst/>
          </a:prstGeom>
          <a:solidFill>
            <a:srgbClr val="F4F7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87768" y="2203704"/>
            <a:ext cx="4471416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肥厚程度较轻、分布不典型（心尖肥厚多见），起病年龄更轻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761488"/>
            <a:ext cx="23317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2788920"/>
            <a:ext cx="211226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1B2A4A"/>
                </a:solidFill>
                <a:latin typeface="Microsoft YaHei"/>
                <a:ea typeface="Microsoft YaHei"/>
              </a:rPr>
              <a:t>流出道（LVOT）梗阻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761488"/>
            <a:ext cx="452628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61488" y="2788920"/>
            <a:ext cx="430682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动态梗阻常见（二尖瓣前向运动明显）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2761488"/>
            <a:ext cx="4690872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87768" y="2788920"/>
            <a:ext cx="4471416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梗阻显著少见；室间隔减容治疗率更低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346704"/>
            <a:ext cx="2331720" cy="585216"/>
          </a:xfrm>
          <a:prstGeom prst="rect">
            <a:avLst/>
          </a:prstGeom>
          <a:solidFill>
            <a:srgbClr val="F4F7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3374136"/>
            <a:ext cx="211226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1B2A4A"/>
                </a:solidFill>
                <a:latin typeface="Microsoft YaHei"/>
                <a:ea typeface="Microsoft YaHei"/>
              </a:rPr>
              <a:t>舒张功能障碍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346704"/>
            <a:ext cx="4526280" cy="585216"/>
          </a:xfrm>
          <a:prstGeom prst="rect">
            <a:avLst/>
          </a:prstGeom>
          <a:solidFill>
            <a:srgbClr val="F4F7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61488" y="3374136"/>
            <a:ext cx="430682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存在，相对较轻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78040" y="3346704"/>
            <a:ext cx="4690872" cy="585216"/>
          </a:xfrm>
          <a:prstGeom prst="rect">
            <a:avLst/>
          </a:prstGeom>
          <a:solidFill>
            <a:srgbClr val="F4F7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87768" y="3374136"/>
            <a:ext cx="4471416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更突出；更易出现限制型生理表现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931920"/>
            <a:ext cx="23317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" y="3959352"/>
            <a:ext cx="211226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1B2A4A"/>
                </a:solidFill>
                <a:latin typeface="Microsoft YaHei"/>
                <a:ea typeface="Microsoft YaHei"/>
              </a:rPr>
              <a:t>心衰进展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931920"/>
            <a:ext cx="452628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61488" y="3959352"/>
            <a:ext cx="430682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进展相对缓慢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78040" y="3931920"/>
            <a:ext cx="4690872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87768" y="3959352"/>
            <a:ext cx="4471416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进展至 NYHA III–IV 级的风险高 2 倍以上（独立于梗阻）；收缩功能障碍更重、出现更早（Coppini 等）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17136"/>
            <a:ext cx="2331720" cy="585216"/>
          </a:xfrm>
          <a:prstGeom prst="rect">
            <a:avLst/>
          </a:prstGeom>
          <a:solidFill>
            <a:srgbClr val="F4F7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" y="4544568"/>
            <a:ext cx="211226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1B2A4A"/>
                </a:solidFill>
                <a:latin typeface="Microsoft YaHei"/>
                <a:ea typeface="Microsoft YaHei"/>
              </a:rPr>
              <a:t>心律失常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51760" y="4517136"/>
            <a:ext cx="4526280" cy="585216"/>
          </a:xfrm>
          <a:prstGeom prst="rect">
            <a:avLst/>
          </a:prstGeom>
          <a:solidFill>
            <a:srgbClr val="F4F7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61488" y="4544568"/>
            <a:ext cx="430682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房颤相对少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78040" y="4517136"/>
            <a:ext cx="4690872" cy="585216"/>
          </a:xfrm>
          <a:prstGeom prst="rect">
            <a:avLst/>
          </a:prstGeom>
          <a:solidFill>
            <a:srgbClr val="F4F7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87768" y="4544568"/>
            <a:ext cx="4471416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房颤负荷高（导管消融率更高）；TNNT2 家系猝死率高（青年男性死亡率可达 64%）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102352"/>
            <a:ext cx="23317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9768" y="5129784"/>
            <a:ext cx="211226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1B2A4A"/>
                </a:solidFill>
                <a:latin typeface="Microsoft YaHei"/>
                <a:ea typeface="Microsoft YaHei"/>
              </a:rPr>
              <a:t>猝死（SCD）风险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51760" y="5102352"/>
            <a:ext cx="452628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61488" y="5129784"/>
            <a:ext cx="430682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与肥厚程度相关性较大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78040" y="5102352"/>
            <a:ext cx="4690872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87768" y="5129784"/>
            <a:ext cx="4471416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SCD 风险与肥厚程度不平行 —— 肥厚轻不等于风险低；不同研究结论有差异，依具体基因型而定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0040" y="5779008"/>
            <a:ext cx="11548872" cy="475488"/>
          </a:xfrm>
          <a:prstGeom prst="roundRect">
            <a:avLst>
              <a:gd name="adj" fmla="val 8000"/>
            </a:avLst>
          </a:prstGeom>
          <a:solidFill>
            <a:srgbClr val="FC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833872"/>
            <a:ext cx="11155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D97B29"/>
                </a:solidFill>
                <a:latin typeface="Microsoft YaHei"/>
                <a:ea typeface="Microsoft YaHei"/>
              </a:rPr>
              <a:t>联系本例：</a:t>
            </a:r>
            <a:r>
              <a:rPr sz="1050" b="0">
                <a:solidFill>
                  <a:srgbClr val="222222"/>
                </a:solidFill>
                <a:latin typeface="Microsoft YaHei"/>
                <a:ea typeface="Microsoft YaHei"/>
              </a:rPr>
              <a:t>TNNI3 属细肌丝基因 —— 本例肥厚不显著、无梗阻、以舒张/收缩功能障碍与心衰快速进展为主的“非经典”表现，符合细肌丝 HCM 的表型规律。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" y="6528816"/>
            <a:ext cx="1152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A5A5A"/>
                </a:solidFill>
                <a:latin typeface="Microsoft YaHei"/>
                <a:ea typeface="Microsoft YaHei"/>
              </a:rPr>
              <a:t>参考文献：Keyt LK, et al. Thin filament cardiomyopathies: A review of genetics, disease mechanisms, and emerging therapeutics. Front Cardiovasc Med. 2022;9:972301. doi:10.3389/fcvm.2022.972301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粗肌丝 vs 细肌丝：致病机制差异与治疗启示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8C6DD"/>
                </a:solidFill>
                <a:latin typeface="Microsoft YaHei"/>
                <a:ea typeface="Microsoft YaHei"/>
              </a:rPr>
              <a:t>Distinct Pathomechanisms: Myosin States vs Calcium Dysregulation, and Therapeutic Implications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24128"/>
            <a:ext cx="5687568" cy="306324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33856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E5EAA"/>
                </a:solidFill>
                <a:latin typeface="Microsoft YaHei"/>
                <a:ea typeface="Microsoft YaHei"/>
              </a:rPr>
              <a:t>粗肌丝 HCM：肌球蛋白“超收缩”机制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27048"/>
            <a:ext cx="52578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1">
                <a:solidFill>
                  <a:srgbClr val="2E5EAA"/>
                </a:solidFill>
                <a:latin typeface="Microsoft YaHei"/>
                <a:ea typeface="Microsoft YaHei"/>
              </a:rPr>
              <a:t>▪ </a:t>
            </a:r>
            <a:r>
              <a:rPr sz="1050" b="0">
                <a:solidFill>
                  <a:srgbClr val="222222"/>
                </a:solidFill>
                <a:latin typeface="Microsoft YaHei"/>
                <a:ea typeface="Microsoft YaHei"/>
              </a:rPr>
              <a:t>突变促进肌球蛋白头部与肌动蛋白相互作用，延长附着状态时间</a:t>
            </a:r>
          </a:p>
          <a:p>
            <a:pPr algn="l">
              <a:spcAft>
                <a:spcPts val="800"/>
              </a:spcAft>
            </a:pPr>
            <a:r>
              <a:rPr sz="1050" b="1">
                <a:solidFill>
                  <a:srgbClr val="2E5EAA"/>
                </a:solidFill>
                <a:latin typeface="Microsoft YaHei"/>
                <a:ea typeface="Microsoft YaHei"/>
              </a:rPr>
              <a:t>▪ </a:t>
            </a:r>
            <a:r>
              <a:rPr sz="1050" b="0">
                <a:solidFill>
                  <a:srgbClr val="222222"/>
                </a:solidFill>
                <a:latin typeface="Microsoft YaHei"/>
                <a:ea typeface="Microsoft YaHei"/>
              </a:rPr>
              <a:t>肌球蛋白由节能的超松弛态（SRX）转向无序松弛态（DRX）增多</a:t>
            </a:r>
          </a:p>
          <a:p>
            <a:pPr algn="l">
              <a:spcAft>
                <a:spcPts val="800"/>
              </a:spcAft>
            </a:pPr>
            <a:r>
              <a:rPr sz="1050" b="1">
                <a:solidFill>
                  <a:srgbClr val="2E5EAA"/>
                </a:solidFill>
                <a:latin typeface="Microsoft YaHei"/>
                <a:ea typeface="Microsoft YaHei"/>
              </a:rPr>
              <a:t>▪ </a:t>
            </a:r>
            <a:r>
              <a:rPr sz="1050" b="0">
                <a:solidFill>
                  <a:srgbClr val="222222"/>
                </a:solidFill>
                <a:latin typeface="Microsoft YaHei"/>
                <a:ea typeface="Microsoft YaHei"/>
              </a:rPr>
              <a:t>ATP 酶活性升高 → 高收缩性、耗氧增加 → 肥厚</a:t>
            </a:r>
          </a:p>
          <a:p>
            <a:pPr algn="l">
              <a:spcAft>
                <a:spcPts val="800"/>
              </a:spcAft>
            </a:pPr>
            <a:r>
              <a:rPr sz="1050" b="1">
                <a:solidFill>
                  <a:srgbClr val="2E5EAA"/>
                </a:solidFill>
                <a:latin typeface="Microsoft YaHei"/>
                <a:ea typeface="Microsoft YaHei"/>
              </a:rPr>
              <a:t>▪ </a:t>
            </a:r>
            <a:r>
              <a:rPr sz="1050" b="0">
                <a:solidFill>
                  <a:srgbClr val="222222"/>
                </a:solidFill>
                <a:latin typeface="Microsoft YaHei"/>
                <a:ea typeface="Microsoft YaHei"/>
              </a:rPr>
              <a:t>净效应：收缩力增强 + 舒张受损，以“动力过强”为核心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024128"/>
            <a:ext cx="5687568" cy="3063240"/>
          </a:xfrm>
          <a:prstGeom prst="roundRect">
            <a:avLst>
              <a:gd name="adj" fmla="val 8000"/>
            </a:avLst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1133856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C03A2B"/>
                </a:solidFill>
                <a:latin typeface="Microsoft YaHei"/>
                <a:ea typeface="Microsoft YaHei"/>
              </a:rPr>
              <a:t>细肌丝 HCM：肌节钙失调机制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9944" y="1527048"/>
            <a:ext cx="52578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1">
                <a:solidFill>
                  <a:srgbClr val="C03A2B"/>
                </a:solidFill>
                <a:latin typeface="Microsoft YaHei"/>
                <a:ea typeface="Microsoft YaHei"/>
              </a:rPr>
              <a:t>▪ </a:t>
            </a:r>
            <a:r>
              <a:rPr sz="1050" b="0">
                <a:solidFill>
                  <a:srgbClr val="222222"/>
                </a:solidFill>
                <a:latin typeface="Microsoft YaHei"/>
                <a:ea typeface="Microsoft YaHei"/>
              </a:rPr>
              <a:t>突变多位于关键调控域或蛋白相互作用界面（如 cTnI C 端）</a:t>
            </a:r>
          </a:p>
          <a:p>
            <a:pPr algn="l">
              <a:spcAft>
                <a:spcPts val="800"/>
              </a:spcAft>
            </a:pPr>
            <a:r>
              <a:rPr sz="1050" b="1">
                <a:solidFill>
                  <a:srgbClr val="C03A2B"/>
                </a:solidFill>
                <a:latin typeface="Microsoft YaHei"/>
                <a:ea typeface="Microsoft YaHei"/>
              </a:rPr>
              <a:t>▪ </a:t>
            </a:r>
            <a:r>
              <a:rPr sz="1050" b="0">
                <a:solidFill>
                  <a:srgbClr val="222222"/>
                </a:solidFill>
                <a:latin typeface="Microsoft YaHei"/>
                <a:ea typeface="Microsoft YaHei"/>
              </a:rPr>
              <a:t>核心机制是肌节内钙调控失衡：钙敏感性升高、钙解离受损</a:t>
            </a:r>
          </a:p>
          <a:p>
            <a:pPr algn="l">
              <a:spcAft>
                <a:spcPts val="800"/>
              </a:spcAft>
            </a:pPr>
            <a:r>
              <a:rPr sz="1050" b="1">
                <a:solidFill>
                  <a:srgbClr val="C03A2B"/>
                </a:solidFill>
                <a:latin typeface="Microsoft YaHei"/>
                <a:ea typeface="Microsoft YaHei"/>
              </a:rPr>
              <a:t>▪ </a:t>
            </a:r>
            <a:r>
              <a:rPr sz="1050" b="0">
                <a:solidFill>
                  <a:srgbClr val="222222"/>
                </a:solidFill>
                <a:latin typeface="Microsoft YaHei"/>
                <a:ea typeface="Microsoft YaHei"/>
              </a:rPr>
              <a:t>与粗肌丝相反：ATP 酶活性反而降低、肌球蛋白偏向 SRX，但氧耗与能量消耗仍增加 → 能量失衡</a:t>
            </a:r>
          </a:p>
          <a:p>
            <a:pPr algn="l">
              <a:spcAft>
                <a:spcPts val="800"/>
              </a:spcAft>
            </a:pPr>
            <a:r>
              <a:rPr sz="1050" b="1">
                <a:solidFill>
                  <a:srgbClr val="C03A2B"/>
                </a:solidFill>
                <a:latin typeface="Microsoft YaHei"/>
                <a:ea typeface="Microsoft YaHei"/>
              </a:rPr>
              <a:t>▪ </a:t>
            </a:r>
            <a:r>
              <a:rPr sz="1050" b="0">
                <a:solidFill>
                  <a:srgbClr val="222222"/>
                </a:solidFill>
                <a:latin typeface="Microsoft YaHei"/>
                <a:ea typeface="Microsoft YaHei"/>
              </a:rPr>
              <a:t>净效应：舒张障碍突出、限制表型倾向、致心律失常性增高，肥厚反而较轻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4224528"/>
            <a:ext cx="11548872" cy="1737360"/>
          </a:xfrm>
          <a:prstGeom prst="roundRect">
            <a:avLst>
              <a:gd name="adj" fmla="val 8000"/>
            </a:avLst>
          </a:prstGeom>
          <a:solidFill>
            <a:srgbClr val="E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31596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8A70"/>
                </a:solidFill>
                <a:latin typeface="Microsoft YaHei"/>
                <a:ea typeface="Microsoft YaHei"/>
              </a:rPr>
              <a:t>治疗启示：机制不同 → 疗效可能不同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81728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1F8A70"/>
                </a:solidFill>
                <a:latin typeface="Microsoft YaHei"/>
                <a:ea typeface="Microsoft YaHei"/>
              </a:rPr>
              <a:t>▪ </a:t>
            </a:r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</a:rPr>
              <a:t>现有心衰/HCM 治疗（负性肌力药、室间隔减容）均未直接针对细肌丝的肌节功能异常；现行指南（含 ICD 指征）尚未区分粗/细肌丝基因型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1F8A70"/>
                </a:solidFill>
                <a:latin typeface="Microsoft YaHei"/>
                <a:ea typeface="Microsoft YaHei"/>
              </a:rPr>
              <a:t>▪ </a:t>
            </a:r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</a:rPr>
              <a:t>肌球蛋白 ATP 酶抑制剂 mavacamten（EXPLORER-HCM Ⅲ期试验证实改善梗阻性 HCM）理论上更契合粗肌丝机制；体外研究显示其也能逆转细肌丝突变（R92Q-cTnT、R145G-cTnI）的部分效应并降低胞浆钙水平，但对无肥厚/限制表型患者的获益未知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1F8A70"/>
                </a:solidFill>
                <a:latin typeface="Microsoft YaHei"/>
                <a:ea typeface="Microsoft YaHei"/>
              </a:rPr>
              <a:t>▪ </a:t>
            </a:r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</a:rPr>
              <a:t>提示未来需要基因型导向的个体化治疗；对细肌丝（TNNI3）患者，风险评估不应依赖肥厚程度，需综合心衰进展与心律失常负荷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28816"/>
            <a:ext cx="1152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A5A5A"/>
                </a:solidFill>
                <a:latin typeface="Microsoft YaHei"/>
                <a:ea typeface="Microsoft YaHei"/>
              </a:rPr>
              <a:t>参考文献：Keyt LK, et al. Thin filament cardiomyopathies: A review of genetics, disease mechanisms, and emerging therapeutics. Front Cardiovasc Med. 2022;9:972301. doi:10.3389/fcvm.2022.972301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