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TNNI3 p.Arg186Gln（R186Q）病例证据汇总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8C6DD"/>
                </a:solidFill>
                <a:latin typeface="Microsoft YaHei"/>
                <a:ea typeface="Microsoft YaHei"/>
              </a:rPr>
              <a:t>Case-Level Evidence for TNNI3 R186Q (c.557G&gt;A) in Cardiomyopathy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87552"/>
            <a:ext cx="11548872" cy="5486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55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变异信息：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c.557G&gt;A（8 号外显子）· rs397516357 · 位于 C 端移动区（164–210）　｜　</a:t>
            </a: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分类：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ClinVar 致病/可能致病（11 家实验室）；OMGL Class 5 确定致病　｜　</a:t>
            </a: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人群频率：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ExAC（6 万人）未检出；gnomAD v3.1.1 仅 1 名携带者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6420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已报道病例 / 家系证据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93392"/>
            <a:ext cx="2286000" cy="347472"/>
          </a:xfrm>
          <a:prstGeom prst="rect">
            <a:avLst/>
          </a:prstGeom>
          <a:solidFill>
            <a:srgbClr val="2E5E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20665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来源 / 年份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993392"/>
            <a:ext cx="2148840" cy="347472"/>
          </a:xfrm>
          <a:prstGeom prst="rect">
            <a:avLst/>
          </a:prstGeom>
          <a:solidFill>
            <a:srgbClr val="2E5E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19293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病例 / 家系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93392"/>
            <a:ext cx="7114032" cy="347472"/>
          </a:xfrm>
          <a:prstGeom prst="rect">
            <a:avLst/>
          </a:prstGeom>
          <a:solidFill>
            <a:srgbClr val="2E5E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993392"/>
            <a:ext cx="6894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关键临床发现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40864"/>
            <a:ext cx="228600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368296"/>
            <a:ext cx="206654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Mogensen 等, JACC 2004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英国 748 家系 HCM 队列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340864"/>
            <a:ext cx="214884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368296"/>
            <a:ext cx="19293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家系 H136（该队列 23 个 TNNI3 阳性家系之一）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340864"/>
            <a:ext cx="7114032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368296"/>
            <a:ext cx="689457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先证者 29 岁诊断，重度非对称室间隔肥厚达 35 mm；随访 13 年出现左室壁变薄、心腔扩张（HCM → 终末期/扩张样演变）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07792"/>
            <a:ext cx="2286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2935224"/>
            <a:ext cx="20665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Moon 等, Heart 2005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同队列 CMR 随访研究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907792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2935224"/>
            <a:ext cx="192938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家系 H136，≥4 名基因阳性成员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907792"/>
            <a:ext cx="71140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935224"/>
            <a:ext cx="689457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2 人 40 余岁死于进展性心衰；1 例 6 年内出现 LVH + 晕厥（LGE 11%）；1 例 LVH&gt;30 mm、运动试验异常，后室壁变薄扩张（LGE 高达 48%，广泛纤维化）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84448"/>
            <a:ext cx="2286000" cy="512064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611880"/>
            <a:ext cx="2066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Wang 等, J Med Genet 2015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中国 GeneID 队列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3584448"/>
            <a:ext cx="2148840" cy="512064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611880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1 个 HCM + 房颤大家系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584448"/>
            <a:ext cx="7114032" cy="512064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611880"/>
            <a:ext cx="6894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全外显子测序发现 R186Q 与疾病在家系内共分离，&gt;1583 名对照未检出 —— 提示 R186Q 可同时导致 HCM 与房颤（AF）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96512"/>
            <a:ext cx="2286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123944"/>
            <a:ext cx="2066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临床心血管病杂志 2018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中国汉族家族性 HCM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4096512"/>
            <a:ext cx="2148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4123944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1 家系 3 例 HCM 患者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4096512"/>
            <a:ext cx="711403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4608" y="4123944"/>
            <a:ext cx="6894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先证者无症状、仅体检心电图异常；其父胸闷、研究随访期间猝死；祖母胸闷气促明显 —— 同一家系内表型异质性显著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08576"/>
            <a:ext cx="2286000" cy="40233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4636008"/>
            <a:ext cx="20665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俄罗斯病例报告 2024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4608576"/>
            <a:ext cx="2148840" cy="40233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5768" y="4636008"/>
            <a:ext cx="19293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青少年早期 HCM 1 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4608576"/>
            <a:ext cx="7114032" cy="40233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4608" y="4636008"/>
            <a:ext cx="6894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杂合 R186Q；超声应变成像示左室心肌节段形变减低，为肥厚前早期改变提供影像学证据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038344"/>
            <a:ext cx="20665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检测队列汇总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（Atlas of Cardiac Genetic Variation）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5010912"/>
            <a:ext cx="2148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5038344"/>
            <a:ext cx="192938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OMGL：2/3135 HCM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LMM：3/2912 HCM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5010912"/>
            <a:ext cx="71140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4608" y="5038344"/>
            <a:ext cx="6894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两大临床检测实验室在 HCM 队列中独立多次检出并均判为致病；DCM/对照队列未见富集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5577840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64184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8A70"/>
                </a:solidFill>
                <a:latin typeface="Microsoft YaHei"/>
                <a:ea typeface="Microsoft YaHei"/>
              </a:rPr>
              <a:t>功能学 / 机制证据（J Cardiovasc Aging 2022）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925312"/>
            <a:ext cx="521208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R186Q 敲入小鼠再现心肌肥厚表型（体内致病性证据）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机制：cTnI–EGFR 结合减弱 → FASN 上调 → 脂肪酸代谢异常；FASN 抑制剂 C75 在模型中可改善表型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5577840"/>
            <a:ext cx="5742432" cy="1170432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64184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03A2B"/>
                </a:solidFill>
                <a:latin typeface="Microsoft YaHei"/>
                <a:ea typeface="Microsoft YaHei"/>
              </a:rPr>
              <a:t>要点小结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925312"/>
            <a:ext cx="534924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表型：HCM 为主（可重度肥厚 35 mm），可进展为室壁变薄/扩张的终末期表型；伴房颤、心衰死亡与猝死风险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多国家系共分离 + 人群中极罕见 + 动物模型验证 → 致病性证据链完整；同密码子 R186G 亦有致病报道（HCM/LVNC 混合表型）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