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64592" cy="2194560"/>
          </a:xfrm>
          <a:prstGeom prst="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TAVR 围术期心电评估与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永久起搏器风险预测及管理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4340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9E9E"/>
                </a:solidFill>
                <a:latin typeface="Microsoft YaHei"/>
              </a:rPr>
              <a:t>术前 · 术中 · 术后全流程  |  传导阻滞 · 风险评分 · 拔管与起搏决策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2920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8C6D8"/>
                </a:solidFill>
                <a:latin typeface="Microsoft YaHei"/>
              </a:rPr>
              <a:t>基于 2020 ACC 专家共识、2019 JACC 专家声明、2021 ESC 起搏指南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8C6D8"/>
                </a:solidFill>
                <a:latin typeface="Microsoft YaHei"/>
              </a:rPr>
              <a:t>及 D-PACE / Emory 评分等最新证据整理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Microsoft YaHei"/>
              </a:rPr>
              <a:t>TAVR 围术期心电评估与起搏器管理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F6B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28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9E9E"/>
                </a:solidFill>
                <a:latin typeface="Microsoft YaHei"/>
              </a:rPr>
              <a:t>Agenda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640080" cy="640080"/>
          </a:xfrm>
          <a:prstGeom prst="round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554480"/>
            <a:ext cx="4206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22B"/>
                </a:solidFill>
                <a:latin typeface="Microsoft YaHei"/>
              </a:rPr>
              <a:t>背景：解剖毗邻与流行病学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640080" cy="640080"/>
          </a:xfrm>
          <a:prstGeom prst="round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606040"/>
            <a:ext cx="4206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22B"/>
                </a:solidFill>
                <a:latin typeface="Microsoft YaHei"/>
              </a:rPr>
              <a:t>术前心电评估与危险因素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640080" cy="640080"/>
          </a:xfrm>
          <a:prstGeom prst="round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657600"/>
            <a:ext cx="4206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22B"/>
                </a:solidFill>
                <a:latin typeface="Microsoft YaHei"/>
              </a:rPr>
              <a:t>术中评估与监测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09160"/>
            <a:ext cx="640080" cy="640080"/>
          </a:xfrm>
          <a:prstGeom prst="round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709160"/>
            <a:ext cx="4206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22B"/>
                </a:solidFill>
                <a:latin typeface="Microsoft YaHei"/>
              </a:rPr>
              <a:t>术后即刻/次日心电评估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640080" cy="640080"/>
          </a:xfrm>
          <a:prstGeom prst="round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554480"/>
            <a:ext cx="4206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22B"/>
                </a:solidFill>
                <a:latin typeface="Microsoft YaHei"/>
              </a:rPr>
              <a:t>起搏器概率预测（分层数据）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606040"/>
            <a:ext cx="640080" cy="640080"/>
          </a:xfrm>
          <a:prstGeom prst="round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606040"/>
            <a:ext cx="4206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22B"/>
                </a:solidFill>
                <a:latin typeface="Microsoft YaHei"/>
              </a:rPr>
              <a:t>风险评分：Emory 与 D-PACE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657600"/>
            <a:ext cx="640080" cy="640080"/>
          </a:xfrm>
          <a:prstGeom prst="round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657600"/>
            <a:ext cx="4206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22B"/>
                </a:solidFill>
                <a:latin typeface="Microsoft YaHei"/>
              </a:rPr>
              <a:t>起搏器植入时机分布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709160"/>
            <a:ext cx="640080" cy="640080"/>
          </a:xfrm>
          <a:prstGeom prst="round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709160"/>
            <a:ext cx="4206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22B"/>
                </a:solidFill>
                <a:latin typeface="Microsoft YaHei"/>
              </a:rPr>
              <a:t>处理流程与拔管/出院决策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686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Microsoft YaHei"/>
              </a:rPr>
              <a:t>TAVR 围术期心电评估与起搏器管理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F6B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背景：解剖毗邻与流行病学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28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9E9E"/>
                </a:solidFill>
                <a:latin typeface="Microsoft YaHei"/>
              </a:rPr>
              <a:t>Anatomy &amp; Epidemiology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B222B"/>
                </a:solidFill>
                <a:latin typeface="Microsoft YaHei"/>
              </a:rPr>
              <a:t>•  主动脉瓣环与传导系统（希氏束、左束支）解剖上紧密毗邻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555F6B"/>
                </a:solidFill>
                <a:latin typeface="Microsoft YaHei"/>
              </a:rPr>
              <a:t>–  瓣膜支架、输送系统、硬导丝对室间隔膜部及传导束产生机械压迫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555F6B"/>
                </a:solidFill>
                <a:latin typeface="Microsoft YaHei"/>
              </a:rPr>
              <a:t>–  损伤多表现为房室阻滞或左束支阻滞，可为一过性或持续性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B222B"/>
                </a:solidFill>
                <a:latin typeface="Microsoft YaHei"/>
              </a:rPr>
              <a:t>•  术后新发 LBBB 发生率约 27%（4–57%）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B222B"/>
                </a:solidFill>
                <a:latin typeface="Microsoft YaHei"/>
              </a:rPr>
              <a:t>•  永久起搏器（PPM）总体植入率约 11–17%（各研究 2–51%）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555F6B"/>
                </a:solidFill>
                <a:latin typeface="Microsoft YaHei"/>
              </a:rPr>
              <a:t>–  自膨胀瓣 (CoreValve/Evolut) 约 28% &gt; 球扩瓣 (SAPIEN) 约 6%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B222B"/>
                </a:solidFill>
                <a:latin typeface="Microsoft YaHei"/>
              </a:rPr>
              <a:t>•  高度房室阻滞 (HAVB) 发生率 9–26%，是 PPM 的主要原因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371600"/>
            <a:ext cx="4937760" cy="4297680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0" y="1371600"/>
            <a:ext cx="4937760" cy="50292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9377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关键数字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57400"/>
            <a:ext cx="21945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9E9E"/>
                </a:solidFill>
                <a:latin typeface="Microsoft YaHei"/>
              </a:rPr>
              <a:t>11–17%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057400"/>
            <a:ext cx="246888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22B"/>
                </a:solidFill>
                <a:latin typeface="Microsoft YaHei"/>
              </a:rPr>
              <a:t>总体 PPM 植入率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926080"/>
            <a:ext cx="21945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9E9E"/>
                </a:solidFill>
                <a:latin typeface="Microsoft YaHei"/>
              </a:rPr>
              <a:t>9–26%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926080"/>
            <a:ext cx="246888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22B"/>
                </a:solidFill>
                <a:latin typeface="Microsoft YaHei"/>
              </a:rPr>
              <a:t>高度房室阻滞发生率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794760"/>
            <a:ext cx="21945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9E9E"/>
                </a:solidFill>
                <a:latin typeface="Microsoft YaHei"/>
              </a:rPr>
              <a:t>~27%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794760"/>
            <a:ext cx="246888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22B"/>
                </a:solidFill>
                <a:latin typeface="Microsoft YaHei"/>
              </a:rPr>
              <a:t>新发 LBBB 发生率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663440"/>
            <a:ext cx="21945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9E9E"/>
                </a:solidFill>
                <a:latin typeface="Microsoft YaHei"/>
              </a:rPr>
              <a:t>0.5–0.75%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4663440"/>
            <a:ext cx="246888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22B"/>
                </a:solidFill>
                <a:latin typeface="Microsoft YaHei"/>
              </a:rPr>
              <a:t>新发 RBBB（罕见但高危）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8686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Microsoft YaHei"/>
              </a:rPr>
              <a:t>TAVR 围术期心电评估与起搏器管理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F6B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1F5C99"/>
                </a:solidFill>
                <a:latin typeface="Microsoft YaHei"/>
              </a:rPr>
              <a:t>来源: Circ Rev/CFR 2021; EuroIntervention 2023; JACC 2020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① 术前心电评估与危险因素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28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9E9E"/>
                </a:solidFill>
                <a:latin typeface="Microsoft YaHei"/>
              </a:rPr>
              <a:t>Pre-procedure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5C99"/>
                </a:solidFill>
                <a:latin typeface="Microsoft YaHei"/>
              </a:rPr>
              <a:t>术前 12 导联 ECG 是最重要的风险评估工具；建议术前至少 24h 心电监测以发现隐匿异常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760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B222B"/>
                </a:solidFill>
                <a:latin typeface="Microsoft YaHei"/>
              </a:rPr>
              <a:t>•  预示 PPM 的 ECG 危险因素：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300" b="0">
                <a:solidFill>
                  <a:srgbClr val="555F6B"/>
                </a:solidFill>
                <a:latin typeface="Microsoft YaHei"/>
              </a:rPr>
              <a:t>–  术前 RBBB —— 最强预测因子（住院期 HAVB 风险可达 24%）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300" b="0">
                <a:solidFill>
                  <a:srgbClr val="555F6B"/>
                </a:solidFill>
                <a:latin typeface="Microsoft YaHei"/>
              </a:rPr>
              <a:t>–  一度房室阻滞、PR 延长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300" b="0">
                <a:solidFill>
                  <a:srgbClr val="555F6B"/>
                </a:solidFill>
                <a:latin typeface="Microsoft YaHei"/>
              </a:rPr>
              <a:t>–  左前分支阻滞 (LAFB)、双分支阻滞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300" b="0">
                <a:solidFill>
                  <a:srgbClr val="555F6B"/>
                </a:solidFill>
                <a:latin typeface="Microsoft YaHei"/>
              </a:rPr>
              <a:t>–  QRS 增宽（≥140 ms 进入 Emory 评分）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B222B"/>
                </a:solidFill>
                <a:latin typeface="Microsoft YaHei"/>
              </a:rPr>
              <a:t>•  临床/影像危险因素：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300" b="0">
                <a:solidFill>
                  <a:srgbClr val="555F6B"/>
                </a:solidFill>
                <a:latin typeface="Microsoft YaHei"/>
              </a:rPr>
              <a:t>–  男性、房颤史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300" b="0">
                <a:solidFill>
                  <a:srgbClr val="555F6B"/>
                </a:solidFill>
                <a:latin typeface="Microsoft YaHei"/>
              </a:rPr>
              <a:t>–  室间隔膜部长度短、LVOT/瓣环钙化（尤其 NCC 下方）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1783080"/>
            <a:ext cx="5120640" cy="38862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920240"/>
            <a:ext cx="4754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E59"/>
                </a:solidFill>
                <a:latin typeface="Microsoft YaHei"/>
              </a:rPr>
              <a:t>要点：术前 RBBB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42316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1B222B"/>
                </a:solidFill>
                <a:latin typeface="Microsoft YaHei"/>
              </a:rPr>
              <a:t>•  TAVR 后传导恶化风险最高的基线特征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1B222B"/>
                </a:solidFill>
                <a:latin typeface="Microsoft YaHei"/>
              </a:rPr>
              <a:t>•  新发 RBBB 罕见 (0.5–0.75%)，但一旦出现 46–67% 需 PPM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1B222B"/>
                </a:solidFill>
                <a:latin typeface="Microsoft YaHei"/>
              </a:rPr>
              <a:t>•  术前 RBBB 患者应预案：保留临时起搏能力、延长监测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1B222B"/>
                </a:solidFill>
                <a:latin typeface="Microsoft YaHei"/>
              </a:rPr>
              <a:t>•  高度 AVB 风险可持续至术后 7 天（自膨胀瓣更甚）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8686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Microsoft YaHei"/>
              </a:rPr>
              <a:t>TAVR 围术期心电评估与起搏器管理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F6B"/>
                </a:solidFill>
                <a:latin typeface="Microsoft YaHe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1F5C99"/>
                </a:solidFill>
                <a:latin typeface="Microsoft YaHei"/>
              </a:rPr>
              <a:t>来源: 2020 ACC 共识 (JACC 2020;76:2391); Kiani JACC Interv 2019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② 术中评估与监测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28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9E9E"/>
                </a:solidFill>
                <a:latin typeface="Microsoft YaHei"/>
              </a:rPr>
              <a:t>Intra-procedure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760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1B222B"/>
                </a:solidFill>
                <a:latin typeface="Microsoft YaHei"/>
              </a:rPr>
              <a:t>•  全程连续心电/血流动力学监测 + 临时经静脉起搏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555F6B"/>
                </a:solidFill>
                <a:latin typeface="Microsoft YaHei"/>
              </a:rPr>
              <a:t>–  高危患者建议经右颈内静脉保留临时起搏电极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555F6B"/>
                </a:solidFill>
                <a:latin typeface="Microsoft YaHei"/>
              </a:rPr>
              <a:t>–  若股静脉用于快速起搏，可另置颈内静脉电极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1B222B"/>
                </a:solidFill>
                <a:latin typeface="Microsoft YaHei"/>
              </a:rPr>
              <a:t>•  术中一过性高度 AVB —— 迟发 AVB 的独立预测因子 (OR≈3.5)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1B222B"/>
                </a:solidFill>
                <a:latin typeface="Microsoft YaHei"/>
              </a:rPr>
              <a:t>•  可改良的操作因素：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555F6B"/>
                </a:solidFill>
                <a:latin typeface="Microsoft YaHei"/>
              </a:rPr>
              <a:t>–  植入深度（越深风险越高，每深 1mm OR≈1.46）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555F6B"/>
                </a:solidFill>
                <a:latin typeface="Microsoft YaHei"/>
              </a:rPr>
              <a:t>–  瓣膜类型（自膨胀 &gt; 球扩）、避免过度预扩张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1B222B"/>
                </a:solidFill>
                <a:latin typeface="Microsoft YaHei"/>
              </a:rPr>
              <a:t>•  术后即刻快速心房起搏测 Wenckebach 点，辅助判断需否 PPM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1371600"/>
            <a:ext cx="5120640" cy="4297680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508760"/>
            <a:ext cx="4754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E59"/>
                </a:solidFill>
                <a:latin typeface="Microsoft YaHei"/>
              </a:rPr>
              <a:t>术中→术后即刻 12 导联 ECG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01168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1B222B"/>
                </a:solidFill>
                <a:latin typeface="Microsoft YaHei"/>
              </a:rPr>
              <a:t>•  记录 3 种典型情形，决定后续路径：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555F6B"/>
                </a:solidFill>
                <a:latin typeface="Microsoft YaHei"/>
              </a:rPr>
              <a:t>–  无传导紊乱 → 低危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555F6B"/>
                </a:solidFill>
                <a:latin typeface="Microsoft YaHei"/>
              </a:rPr>
              <a:t>–  新发传导异常（LBBB / PR、QRS 延长）→ 监测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555F6B"/>
                </a:solidFill>
                <a:latin typeface="Microsoft YaHei"/>
              </a:rPr>
              <a:t>–  术中出现高度 AVB/完全阻滞 → 高危，多需 PPM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1B222B"/>
                </a:solidFill>
                <a:latin typeface="Microsoft YaHei"/>
              </a:rPr>
              <a:t>•  即刻 ECG 完全无变化：迟发 AVB 风险 &lt;1%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8686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Microsoft YaHei"/>
              </a:rPr>
              <a:t>TAVR 围术期心电评估与起搏器管理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F6B"/>
                </a:solidFill>
                <a:latin typeface="Microsoft YaHe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1F5C99"/>
                </a:solidFill>
                <a:latin typeface="Microsoft YaHei"/>
              </a:rPr>
              <a:t>来源: 2019 Rodés-Cabau (JACC 2019;74:1086); Krishnaswamy JACC Interv 2020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③ 术后即刻/次日心电评估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28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9E9E"/>
                </a:solidFill>
                <a:latin typeface="Microsoft YaHei"/>
              </a:rPr>
              <a:t>Post-procedure ECG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5C99"/>
                </a:solidFill>
                <a:latin typeface="Microsoft YaHei"/>
              </a:rPr>
              <a:t>核心原则：区分「一过性」与「持续性」——次日 (12–24h) ECG 仍存在的异常才具预测价值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78" cy="3310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2750"/>
                <a:gridCol w="4231464"/>
                <a:gridCol w="4231464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评估项</a:t>
                      </a:r>
                    </a:p>
                  </a:txBody>
                  <a:tcPr marL="63500" marR="63500" marT="25400" marB="25400" anchor="ctr">
                    <a:solidFill>
                      <a:srgbClr val="1F5C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阈值 / 意义</a:t>
                      </a:r>
                    </a:p>
                  </a:txBody>
                  <a:tcPr marL="63500" marR="63500" marT="25400" marB="25400" anchor="ctr">
                    <a:solidFill>
                      <a:srgbClr val="1F5C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临床提示</a:t>
                      </a:r>
                    </a:p>
                  </a:txBody>
                  <a:tcPr marL="63500" marR="63500" marT="25400" marB="25400" anchor="ctr">
                    <a:solidFill>
                      <a:srgbClr val="1F5C9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术后 PR 间期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≥230 ms（特异度~95%）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绝对起搏指征高风险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PR 变化 ΔPR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≥24 ms（敏感度~83%）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传导恶化风险↑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新发束支阻滞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次日仍持续 (LBBB/RBBB)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迟发 AVB 独立预测因子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一过性异常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术后出现、次日消退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不增加迟发 AVB 风险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新发一度 AVB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术前/术后新发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临时起搏电极保留至 24h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即刻 ECG 无变化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无新发/无延长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迟发 AVB &lt;1%，可早出院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8686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Microsoft YaHei"/>
              </a:rPr>
              <a:t>TAVR 围术期心电评估与起搏器管理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F6B"/>
                </a:solidFill>
                <a:latin typeface="Microsoft YaHe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1F5C99"/>
                </a:solidFill>
                <a:latin typeface="Microsoft YaHei"/>
              </a:rPr>
              <a:t>来源: Jorgensen JACC Interv 2018; 以色列 RBBB 队列 (PMID 40767801); D-PACE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④ 起搏器概率预测（分层数据）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28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9E9E"/>
                </a:solidFill>
                <a:latin typeface="Microsoft YaHei"/>
              </a:rPr>
              <a:t>PPM Probability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79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81346"/>
                <a:gridCol w="2992987"/>
                <a:gridCol w="4081346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人群 / 情形</a:t>
                      </a:r>
                    </a:p>
                  </a:txBody>
                  <a:tcPr marL="63500" marR="63500" marT="25400" marB="25400" anchor="ctr">
                    <a:solidFill>
                      <a:srgbClr val="1F5C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需要 PPM 的概率</a:t>
                      </a:r>
                    </a:p>
                  </a:txBody>
                  <a:tcPr marL="63500" marR="63500" marT="25400" marB="25400" anchor="ctr">
                    <a:solidFill>
                      <a:srgbClr val="1F5C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备注</a:t>
                      </a:r>
                    </a:p>
                  </a:txBody>
                  <a:tcPr marL="63500" marR="63500" marT="25400" marB="25400" anchor="ctr">
                    <a:solidFill>
                      <a:srgbClr val="1F5C9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TAVR 总体（30 天内）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≈ 11%（均值）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自 2012 稳定；范围 2–51%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自膨胀瓣 vs 球扩瓣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≈ 28% vs 6%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瓣膜类型差异显著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高度房室阻滞 (HAVB)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发生率 9–26%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PPM 主要原因；部分可恢复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术前 RBBB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住院期 HAVB 达 ~24%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最强预测因子之一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新发 RBBB（术后）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46–67% 需 PPM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HR≈8.4；中位植入 1 天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ECG 无变化 / 低危评分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&lt; 1–2%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B222B"/>
                          </a:solidFill>
                          <a:latin typeface="Microsoft YaHei"/>
                        </a:rPr>
                        <a:t>适合早期拔管与出院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212080"/>
            <a:ext cx="111556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B222B"/>
                </a:solidFill>
                <a:latin typeface="Microsoft YaHei"/>
              </a:rPr>
              <a:t>要点：概率高度依赖基线传导状态与瓣膜类型。术前 RBBB 合并 PR 延长/LAFB/交替束支阻滞时，进展至需 PPM 的比例最高；而术后 ECG 始终干净者绝对风险 &lt;2%。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Microsoft YaHei"/>
              </a:rPr>
              <a:t>TAVR 围术期心电评估与起搏器管理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F6B"/>
                </a:solidFill>
                <a:latin typeface="Microsoft YaHe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1F5C99"/>
                </a:solidFill>
                <a:latin typeface="Microsoft YaHei"/>
              </a:rPr>
              <a:t>来源: STS/ACC TVT Registry; CIRCEP 2024 (RBBB); EuroIntervention 2020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⑤ 风险评分（1）：Emory 评分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28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9E9E"/>
                </a:solidFill>
                <a:latin typeface="Microsoft YaHei"/>
              </a:rPr>
              <a:t>Emory Risk Score — 预测是否需 PPM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603504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26280"/>
                <a:gridCol w="150876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因素</a:t>
                      </a:r>
                    </a:p>
                  </a:txBody>
                  <a:tcPr marL="63500" marR="63500" marT="25400" marB="25400" anchor="ctr">
                    <a:solidFill>
                      <a:srgbClr val="1F5C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分值</a:t>
                      </a:r>
                    </a:p>
                  </a:txBody>
                  <a:tcPr marL="63500" marR="63500" marT="25400" marB="25400" anchor="ctr">
                    <a:solidFill>
                      <a:srgbClr val="1F5C9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22B"/>
                          </a:solidFill>
                          <a:latin typeface="Microsoft YaHei"/>
                        </a:rPr>
                        <a:t>术前 RBBB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22B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22B"/>
                          </a:solidFill>
                          <a:latin typeface="Microsoft YaHei"/>
                        </a:rPr>
                        <a:t>晕厥史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22B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22B"/>
                          </a:solidFill>
                          <a:latin typeface="Microsoft YaHei"/>
                        </a:rPr>
                        <a:t>QRS ≥ 140 ms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22B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22B"/>
                          </a:solidFill>
                          <a:latin typeface="Microsoft YaHei"/>
                        </a:rPr>
                        <a:t>瓣膜 oversizing ≥ 16%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22B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222B"/>
                          </a:solidFill>
                          <a:latin typeface="Microsoft YaHei"/>
                        </a:rPr>
                        <a:t>总分范围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222B"/>
                          </a:solidFill>
                          <a:latin typeface="Microsoft YaHei"/>
                        </a:rPr>
                        <a:t>0 – 5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141732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B222B"/>
                </a:solidFill>
                <a:latin typeface="Microsoft YaHei"/>
              </a:rPr>
              <a:t>•  基于 Edwards SAPIEN 3 球扩瓣队列 (Kiani 等)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B222B"/>
                </a:solidFill>
                <a:latin typeface="Microsoft YaHei"/>
              </a:rPr>
              <a:t>•  每增加 1 分，PPM 风险 OR ≈ 2.2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B222B"/>
                </a:solidFill>
                <a:latin typeface="Microsoft YaHei"/>
              </a:rPr>
              <a:t>•  推导队列 AUC 0.778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B222B"/>
                </a:solidFill>
                <a:latin typeface="Microsoft YaHei"/>
              </a:rPr>
              <a:t>•  外部验证表现中等（AUC ≈ 0.61–0.66）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B222B"/>
                </a:solidFill>
                <a:latin typeface="Microsoft YaHei"/>
              </a:rPr>
              <a:t>•  多项验证：单用「术前 RBBB」预测力与整分相当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B222B"/>
                </a:solidFill>
                <a:latin typeface="Microsoft YaHei"/>
              </a:rPr>
              <a:t>•  → 作术前初筛参考，不宜单独依赖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686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Microsoft YaHei"/>
              </a:rPr>
              <a:t>TAVR 围术期心电评估与起搏器管理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F6B"/>
                </a:solidFill>
                <a:latin typeface="Microsoft YaHe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1F5C99"/>
                </a:solidFill>
                <a:latin typeface="Microsoft YaHei"/>
              </a:rPr>
              <a:t>来源: Kiani et al. JACC Cardiovasc Interv 2019;12:2133; 验证: CJC Open 2022; J Interv Cardiol 2020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⑤ 风险评分（2）：D-PACE 评分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28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9E9E"/>
                </a:solidFill>
                <a:latin typeface="Microsoft YaHei"/>
              </a:rPr>
              <a:t>预测「迟发」高度 AVB（术后 24h–30d）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5C99"/>
                </a:solidFill>
                <a:latin typeface="Microsoft YaHei"/>
              </a:rPr>
              <a:t>在术后次日 (12–24h) ECG 上计算；用于筛选可 24h 后早出院的低危患者。AUC 0.879 / 0.799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6126480" cy="2971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56608"/>
                <a:gridCol w="1769872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独立预测因子</a:t>
                      </a:r>
                    </a:p>
                  </a:txBody>
                  <a:tcPr marL="63500" marR="63500" marT="25400" marB="25400" anchor="ctr">
                    <a:solidFill>
                      <a:srgbClr val="1F5C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校正 OR</a:t>
                      </a:r>
                    </a:p>
                  </a:txBody>
                  <a:tcPr marL="63500" marR="63500" marT="25400" marB="25400" anchor="ctr">
                    <a:solidFill>
                      <a:srgbClr val="1F5C9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22B"/>
                          </a:solidFill>
                          <a:latin typeface="Microsoft YaHei"/>
                        </a:rPr>
                        <a:t>次日持续性新发 RBBB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22B"/>
                          </a:solidFill>
                          <a:latin typeface="Microsoft YaHei"/>
                        </a:rPr>
                        <a:t>9.28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22B"/>
                          </a:solidFill>
                          <a:latin typeface="Microsoft YaHei"/>
                        </a:rPr>
                        <a:t>术前 RBBB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22B"/>
                          </a:solidFill>
                          <a:latin typeface="Microsoft YaHei"/>
                        </a:rPr>
                        <a:t>5.57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22B"/>
                          </a:solidFill>
                          <a:latin typeface="Microsoft YaHei"/>
                        </a:rPr>
                        <a:t>次日持续性新发 LBBB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22B"/>
                          </a:solidFill>
                          <a:latin typeface="Microsoft YaHei"/>
                        </a:rPr>
                        <a:t>4.49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22B"/>
                          </a:solidFill>
                          <a:latin typeface="Microsoft YaHei"/>
                        </a:rPr>
                        <a:t>自膨胀瓣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22B"/>
                          </a:solidFill>
                          <a:latin typeface="Microsoft YaHei"/>
                        </a:rPr>
                        <a:t>2.17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22B"/>
                          </a:solidFill>
                          <a:latin typeface="Microsoft YaHei"/>
                        </a:rPr>
                        <a:t>植入深度（每 mm）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22B"/>
                          </a:solidFill>
                          <a:latin typeface="Microsoft YaHei"/>
                        </a:rPr>
                        <a:t>1.46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22B"/>
                          </a:solidFill>
                          <a:latin typeface="Microsoft YaHei"/>
                        </a:rPr>
                        <a:t>次日 PR 增加（每 ms）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22B"/>
                          </a:solidFill>
                          <a:latin typeface="Microsoft YaHei"/>
                        </a:rPr>
                        <a:t>1.03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22B"/>
                          </a:solidFill>
                          <a:latin typeface="Microsoft YaHei"/>
                        </a:rPr>
                        <a:t>术前 PR（每 ms）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B222B"/>
                          </a:solidFill>
                          <a:latin typeface="Microsoft YaHei"/>
                        </a:rPr>
                        <a:t>1.02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0" y="1691640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E59"/>
                </a:solidFill>
                <a:latin typeface="Microsoft YaHei"/>
              </a:rPr>
              <a:t>风险分层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0" y="2103120"/>
          <a:ext cx="4846319" cy="2157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6453"/>
                <a:gridCol w="1794933"/>
                <a:gridCol w="1794933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评分</a:t>
                      </a:r>
                    </a:p>
                  </a:txBody>
                  <a:tcPr marL="63500" marR="63500" marT="25400" marB="25400" anchor="ctr">
                    <a:solidFill>
                      <a:srgbClr val="1F5C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30d AVB 风险</a:t>
                      </a:r>
                    </a:p>
                  </a:txBody>
                  <a:tcPr marL="63500" marR="63500" marT="25400" marB="25400" anchor="ctr">
                    <a:solidFill>
                      <a:srgbClr val="1F5C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处理</a:t>
                      </a:r>
                    </a:p>
                  </a:txBody>
                  <a:tcPr marL="63500" marR="63500" marT="25400" marB="25400" anchor="ctr">
                    <a:solidFill>
                      <a:srgbClr val="1F5C9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22B"/>
                          </a:solidFill>
                          <a:latin typeface="Microsoft YaHei"/>
                        </a:rPr>
                        <a:t>0–3 低危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22B"/>
                          </a:solidFill>
                          <a:latin typeface="Microsoft YaHei"/>
                        </a:rPr>
                        <a:t>&lt;2% (实测&lt;1%)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22B"/>
                          </a:solidFill>
                          <a:latin typeface="Microsoft YaHei"/>
                        </a:rPr>
                        <a:t>可次日出院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22B"/>
                          </a:solidFill>
                          <a:latin typeface="Microsoft YaHei"/>
                        </a:rPr>
                        <a:t>4–5 中危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22B"/>
                          </a:solidFill>
                          <a:latin typeface="Microsoft YaHei"/>
                        </a:rPr>
                        <a:t>2–5%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22B"/>
                          </a:solidFill>
                          <a:latin typeface="Microsoft YaHei"/>
                        </a:rPr>
                        <a:t>个体化监测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B222B"/>
                          </a:solidFill>
                          <a:latin typeface="Microsoft YaHei"/>
                        </a:rPr>
                        <a:t>≥6 高危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22B"/>
                          </a:solidFill>
                          <a:latin typeface="Microsoft YaHei"/>
                        </a:rPr>
                        <a:t>≥5% (8.7–20.8%)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B222B"/>
                          </a:solidFill>
                          <a:latin typeface="Microsoft YaHei"/>
                        </a:rPr>
                        <a:t>延长监测数天</a:t>
                      </a:r>
                    </a:p>
                  </a:txBody>
                  <a:tcPr marL="63500" marR="63500" marT="25400" marB="2540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0" y="4572000"/>
            <a:ext cx="484632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5F6B"/>
                </a:solidFill>
                <a:latin typeface="Microsoft YaHei"/>
              </a:rPr>
              <a:t>注：一过性（次日消退）异常不计分；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5F6B"/>
                </a:solidFill>
                <a:latin typeface="Microsoft YaHei"/>
              </a:rPr>
              <a:t>房颤/房扑者 PR 不可测，需用 D-PACE AF 版（待验证）。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8686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Microsoft YaHei"/>
              </a:rPr>
              <a:t>TAVR 围术期心电评估与起搏器管理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F6B"/>
                </a:solidFill>
                <a:latin typeface="Microsoft YaHe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1F5C99"/>
                </a:solidFill>
                <a:latin typeface="Microsoft YaHei"/>
              </a:rPr>
              <a:t>来源: D-PACE: EuroIntervention 2024 (Bologna/Catania, n=1290/936)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⑥ 起搏器植入时机分布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28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9E9E"/>
                </a:solidFill>
                <a:latin typeface="Microsoft YaHei"/>
              </a:rPr>
              <a:t>Timing of PPM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5C99"/>
                </a:solidFill>
                <a:latin typeface="Microsoft YaHei"/>
              </a:rPr>
              <a:t>在「最终需要起搏器」的患者中，植入时间的累计分布：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23774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22B"/>
                </a:solidFill>
                <a:latin typeface="Microsoft YaHei"/>
              </a:rPr>
              <a:t>24 小时内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874520"/>
            <a:ext cx="7498079" cy="41148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1874520"/>
            <a:ext cx="2474366" cy="411480"/>
          </a:xfrm>
          <a:prstGeom prst="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91886" y="1828800"/>
            <a:ext cx="1188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9E9E"/>
                </a:solidFill>
                <a:latin typeface="Microsoft YaHei"/>
              </a:rPr>
              <a:t>~33%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42032"/>
            <a:ext cx="23774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22B"/>
                </a:solidFill>
                <a:latin typeface="Microsoft YaHei"/>
              </a:rPr>
              <a:t>48 小时内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587752"/>
            <a:ext cx="7498079" cy="41148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2587752"/>
            <a:ext cx="3749039" cy="41148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2542032"/>
            <a:ext cx="1188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5C99"/>
                </a:solidFill>
                <a:latin typeface="Microsoft YaHei"/>
              </a:rPr>
              <a:t>~50%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55264"/>
            <a:ext cx="23774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22B"/>
                </a:solidFill>
                <a:latin typeface="Microsoft YaHei"/>
              </a:rPr>
              <a:t>住院期间(中位~2天)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300984"/>
            <a:ext cx="7498079" cy="41148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3300984"/>
            <a:ext cx="6748271" cy="41148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65791" y="3255264"/>
            <a:ext cx="1188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E59"/>
                </a:solidFill>
                <a:latin typeface="Microsoft YaHei"/>
              </a:rPr>
              <a:t>~90%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968496"/>
            <a:ext cx="23774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22B"/>
                </a:solidFill>
                <a:latin typeface="Microsoft YaHei"/>
              </a:rPr>
              <a:t>2 周内(含迟发)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014216"/>
            <a:ext cx="7498079" cy="41148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26080" y="4014216"/>
            <a:ext cx="7348117" cy="4114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65637" y="3968496"/>
            <a:ext cx="11887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8B57"/>
                </a:solidFill>
                <a:latin typeface="Microsoft YaHei"/>
              </a:rPr>
              <a:t>~98%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93776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1B222B"/>
                </a:solidFill>
                <a:latin typeface="Microsoft YaHei"/>
              </a:rPr>
              <a:t>•  HAVB 事件本身 60–96% 发生在术后 24h 内；&gt;48h 的迟发约 2–7%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1B222B"/>
                </a:solidFill>
                <a:latin typeface="Microsoft YaHei"/>
              </a:rPr>
              <a:t>•  约 90% 在首次住院期植入（中位 2 天，IQR 0.5–3.5）；迟发者中位第 7 天，其中 79.6% 在 14 天内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1B222B"/>
                </a:solidFill>
                <a:latin typeface="Microsoft YaHei"/>
              </a:rPr>
              <a:t>•  新发 RBBB 亚组更早更集中：中位植入 1 天，绝大多数在 1 周内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686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Microsoft YaHei"/>
              </a:rPr>
              <a:t>TAVR 围术期心电评估与起搏器管理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F6B"/>
                </a:solidFill>
                <a:latin typeface="Microsoft YaHei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1F5C99"/>
                </a:solidFill>
                <a:latin typeface="Microsoft YaHei"/>
              </a:rPr>
              <a:t>来源: CFR 2021; EuroIntervention (managing heart block); CIRCEP 2024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⑦ 处理流程：Rodés-Cabau / 2020 ACC 五组分流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28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9E9E"/>
                </a:solidFill>
                <a:latin typeface="Microsoft YaHei"/>
              </a:rPr>
              <a:t>Management Pathway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267712" cy="5486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267712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组1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2267712" cy="141732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084831"/>
            <a:ext cx="2176272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B222B"/>
                </a:solidFill>
                <a:latin typeface="Microsoft YaHei"/>
              </a:rPr>
              <a:t>无 RBBB</a:t>
            </a:r>
          </a:p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B222B"/>
                </a:solidFill>
                <a:latin typeface="Microsoft YaHei"/>
              </a:rPr>
              <a:t>且术后无 ECG 改变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474720"/>
            <a:ext cx="2267712" cy="1828800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566160"/>
            <a:ext cx="2176272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555F6B"/>
                </a:solidFill>
                <a:latin typeface="Microsoft YaHei"/>
              </a:rPr>
              <a:t>术后即拔临时电极，遥测 24h；</a:t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555F6B"/>
                </a:solidFill>
                <a:latin typeface="Microsoft YaHei"/>
              </a:rPr>
              <a:t>无新异常→出院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9192" y="1417320"/>
            <a:ext cx="2267712" cy="548640"/>
          </a:xfrm>
          <a:prstGeom prst="rect">
            <a:avLst/>
          </a:prstGeom>
          <a:solidFill>
            <a:srgbClr val="E1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2" y="1417320"/>
            <a:ext cx="2267712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组2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9192" y="2011680"/>
            <a:ext cx="2267712" cy="141732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4912" y="2084831"/>
            <a:ext cx="2176272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B222B"/>
                </a:solidFill>
                <a:latin typeface="Microsoft YaHei"/>
              </a:rPr>
              <a:t>术前 RBBB</a:t>
            </a:r>
          </a:p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B222B"/>
                </a:solidFill>
                <a:latin typeface="Microsoft YaHei"/>
              </a:rPr>
              <a:t>术后无 ECG 改变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9192" y="3474720"/>
            <a:ext cx="2267712" cy="1828800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3566160"/>
            <a:ext cx="2176272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555F6B"/>
                </a:solidFill>
                <a:latin typeface="Microsoft YaHei"/>
              </a:rPr>
              <a:t>临时电极≥24h；再遥测24h</a:t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555F6B"/>
                </a:solidFill>
                <a:latin typeface="Microsoft YaHei"/>
              </a:rPr>
              <a:t>无变化→总≥48h出院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2624" y="1417320"/>
            <a:ext cx="2267712" cy="548640"/>
          </a:xfrm>
          <a:prstGeom prst="rect">
            <a:avLst/>
          </a:prstGeom>
          <a:solidFill>
            <a:srgbClr val="E1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92624" y="1417320"/>
            <a:ext cx="2267712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组3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92624" y="2011680"/>
            <a:ext cx="2267712" cy="141732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38344" y="2084831"/>
            <a:ext cx="2176272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B222B"/>
                </a:solidFill>
                <a:latin typeface="Microsoft YaHei"/>
              </a:rPr>
              <a:t>术前 RBBB/LBBB/IVCD/</a:t>
            </a:r>
          </a:p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B222B"/>
                </a:solidFill>
                <a:latin typeface="Microsoft YaHei"/>
              </a:rPr>
              <a:t>一度AVB 且有 ECG 改变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92624" y="3474720"/>
            <a:ext cx="2267712" cy="1828800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38344" y="3566160"/>
            <a:ext cx="2176272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555F6B"/>
                </a:solidFill>
                <a:latin typeface="Microsoft YaHei"/>
              </a:rPr>
              <a:t>临时电极≥24h；变化消退</a:t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555F6B"/>
                </a:solidFill>
                <a:latin typeface="Microsoft YaHei"/>
              </a:rPr>
              <a:t>再观察24h；持续→倾向PPM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6056" y="1417320"/>
            <a:ext cx="2267712" cy="54864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06056" y="1417320"/>
            <a:ext cx="2267712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组4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06056" y="2011680"/>
            <a:ext cx="2267712" cy="141732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51776" y="2084831"/>
            <a:ext cx="2176272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B222B"/>
                </a:solidFill>
                <a:latin typeface="Microsoft YaHei"/>
              </a:rPr>
              <a:t>新发 LBBB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06056" y="3474720"/>
            <a:ext cx="2267712" cy="1828800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6" y="3566160"/>
            <a:ext cx="2176272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555F6B"/>
                </a:solidFill>
                <a:latin typeface="Microsoft YaHei"/>
              </a:rPr>
              <a:t>临时起搏1天+遥测/每日ECG;</a:t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555F6B"/>
                </a:solidFill>
                <a:latin typeface="Microsoft YaHei"/>
              </a:rPr>
              <a:t>加重或PR延长→高危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19488" y="1417320"/>
            <a:ext cx="2267712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19488" y="1417320"/>
            <a:ext cx="2267712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组5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19488" y="2011680"/>
            <a:ext cx="2267712" cy="141732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65208" y="2084831"/>
            <a:ext cx="2176272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B222B"/>
                </a:solidFill>
                <a:latin typeface="Microsoft YaHei"/>
              </a:rPr>
              <a:t>术中/术后</a:t>
            </a:r>
          </a:p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B222B"/>
                </a:solidFill>
                <a:latin typeface="Microsoft YaHei"/>
              </a:rPr>
              <a:t>高度AVB或完全阻滞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19488" y="3474720"/>
            <a:ext cx="2267712" cy="1828800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65208" y="3566160"/>
            <a:ext cx="2176272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555F6B"/>
                </a:solidFill>
                <a:latin typeface="Microsoft YaHei"/>
              </a:rPr>
              <a:t>任何时间出现</a:t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555F6B"/>
                </a:solidFill>
                <a:latin typeface="Microsoft YaHei"/>
              </a:rPr>
              <a:t>→ 永久起搏器 (PPM)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486400"/>
            <a:ext cx="11338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222B"/>
                </a:solidFill>
                <a:latin typeface="Microsoft YaHei"/>
              </a:rPr>
              <a:t>通则：出现高度AVB/完全阻滞的持续病例 = Class I 起搏指征（ESC 2021）；ESC 建议对高度/完全 AVB 可观察至 7 天判断是否可逆（伴慢逸搏可缩短）。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46520"/>
            <a:ext cx="8686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Microsoft YaHei"/>
              </a:rPr>
              <a:t>TAVR 围术期心电评估与起搏器管理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F6B"/>
                </a:solidFill>
                <a:latin typeface="Microsoft YaHei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1F5C99"/>
                </a:solidFill>
                <a:latin typeface="Microsoft YaHei"/>
              </a:rPr>
              <a:t>来源: Rodés-Cabau JACC 2019;74:1086; Lilly 2020 ACC (JACC 2020;76:2391); ESC Pacing 2021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⑧ 术前 RBBB 管理与拔管/出院决策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28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9E9E"/>
                </a:solidFill>
                <a:latin typeface="Microsoft YaHei"/>
              </a:rPr>
              <a:t>Baseline RBBB &amp; Discharge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394960" cy="420624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5029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E59"/>
                </a:solidFill>
                <a:latin typeface="Microsoft YaHei"/>
              </a:rPr>
              <a:t>术前 RBBB（组2）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1B222B"/>
                </a:solidFill>
                <a:latin typeface="Microsoft YaHei"/>
              </a:rPr>
              <a:t>•  无论 PR/QRS 有无新变化，临时起搏能力+持续监测≥24h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1B222B"/>
                </a:solidFill>
                <a:latin typeface="Microsoft YaHei"/>
              </a:rPr>
              <a:t>•  24h 内无 HAVB、PR/QRS 无进行性变化→可考虑拔除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1B222B"/>
                </a:solidFill>
                <a:latin typeface="Microsoft YaHei"/>
              </a:rPr>
              <a:t>•  拔管≠出院：再遥测+每日ECG≥24h（总院内≥48h，最少2天）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1B222B"/>
                </a:solidFill>
                <a:latin typeface="Microsoft YaHei"/>
              </a:rPr>
              <a:t>•  拔管前提：ICU/step-down、保留静脉通路以便紧急起搏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1B222B"/>
                </a:solidFill>
                <a:latin typeface="Microsoft YaHei"/>
              </a:rPr>
              <a:t>•  风险可延续至7天→常延长监测，出院时加动态心电监测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71600"/>
            <a:ext cx="5486400" cy="4206240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81328"/>
            <a:ext cx="5120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E59"/>
                </a:solidFill>
                <a:latin typeface="Microsoft YaHei"/>
              </a:rPr>
              <a:t>拔管 / 出院一般原则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659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1B222B"/>
                </a:solidFill>
                <a:latin typeface="Microsoft YaHei"/>
              </a:rPr>
              <a:t>•  术后即刻/次日 ECG 无变化、无 RBBB → 遥测24h后可早出院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1B222B"/>
                </a:solidFill>
                <a:latin typeface="Microsoft YaHei"/>
              </a:rPr>
              <a:t>•  低危 D-PACE(0–3)：迟发风险&lt;1%，适合次日出院无需继续监测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1B222B"/>
                </a:solidFill>
                <a:latin typeface="Microsoft YaHei"/>
              </a:rPr>
              <a:t>•  有持续新发束支阻滞/PR延长 → 延长院内监测(常至1周)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1B222B"/>
                </a:solidFill>
                <a:latin typeface="Microsoft YaHei"/>
              </a:rPr>
              <a:t>•  早出院趋势下，头 2 周动态心电监测捕捉迟发 HAVB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1B222B"/>
                </a:solidFill>
                <a:latin typeface="Microsoft YaHei"/>
              </a:rPr>
              <a:t>•  任何时间高度AVB/完全阻滞 → 永久起搏器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8686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Microsoft YaHei"/>
              </a:rPr>
              <a:t>TAVR 围术期心电评估与起搏器管理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F6B"/>
                </a:solidFill>
                <a:latin typeface="Microsoft YaHe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1F5C99"/>
                </a:solidFill>
                <a:latin typeface="Microsoft YaHei"/>
              </a:rPr>
              <a:t>来源: 2020 ACC 共识; 2019 JACC 声明; D-PACE 2024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关键要点总结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28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9E9E"/>
                </a:solidFill>
                <a:latin typeface="Microsoft YaHe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0">
                <a:solidFill>
                  <a:srgbClr val="1B222B"/>
                </a:solidFill>
                <a:latin typeface="Microsoft YaHei"/>
              </a:rPr>
              <a:t>•  术前 RBBB 是 TAVR 后传导恶化与 PPM 的最强预测因子；应提前预案。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0">
                <a:solidFill>
                  <a:srgbClr val="1B222B"/>
                </a:solidFill>
                <a:latin typeface="Microsoft YaHei"/>
              </a:rPr>
              <a:t>•  「一过性 vs 持续性」是核心——只有次日 ECG 仍存在的异常才有预测价值。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0">
                <a:solidFill>
                  <a:srgbClr val="1B222B"/>
                </a:solidFill>
                <a:latin typeface="Microsoft YaHei"/>
              </a:rPr>
              <a:t>•  总体 PPM 率约 11%；术前/新发 RBBB 者可达 46–67%；ECG 干净者 &lt;2%。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0">
                <a:solidFill>
                  <a:srgbClr val="1B222B"/>
                </a:solidFill>
                <a:latin typeface="Microsoft YaHei"/>
              </a:rPr>
              <a:t>•  时机：需起搏者约 1/3 在 24h、约 1/2 在 48h、~90% 住院期、迟发者约 80% 在 2 周内。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0">
                <a:solidFill>
                  <a:srgbClr val="1B222B"/>
                </a:solidFill>
                <a:latin typeface="Microsoft YaHei"/>
              </a:rPr>
              <a:t>•  评分工具：术前初筛用 Emory；判断能否早出院用 D-PACE（次日计算，低危&lt;1%）。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0">
                <a:solidFill>
                  <a:srgbClr val="1B222B"/>
                </a:solidFill>
                <a:latin typeface="Microsoft YaHei"/>
              </a:rPr>
              <a:t>•  床旁硬指标：PR≥230 ms、ΔPR≥24 ms、持续性新发束支阻滞。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0">
                <a:solidFill>
                  <a:srgbClr val="1B222B"/>
                </a:solidFill>
                <a:latin typeface="Microsoft YaHei"/>
              </a:rPr>
              <a:t>•  术前 RBBB：临时起搏≥24h，拔管后仍需监测≥24h（总≥48h）方可出院。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0">
                <a:solidFill>
                  <a:srgbClr val="1B222B"/>
                </a:solidFill>
                <a:latin typeface="Microsoft YaHei"/>
              </a:rPr>
              <a:t>•  早出院时代应结合出院后动态心电监测，重点覆盖术后前 2 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686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Microsoft YaHei"/>
              </a:rPr>
              <a:t>TAVR 围术期心电评估与起搏器管理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F6B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288"/>
            <a:ext cx="10058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9E9E"/>
                </a:solidFill>
                <a:latin typeface="Microsoft YaHei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B222B"/>
                </a:solidFill>
                <a:latin typeface="Microsoft YaHei"/>
              </a:rPr>
              <a:t>1. Lilly SM, et al. 2020 ACC Expert Consensus Decision Pathway on Management of Conduction Disturbances in Patients Undergoing TAVR. J Am Coll Cardiol. 2020;76(20):2391-2411.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B222B"/>
                </a:solidFill>
                <a:latin typeface="Microsoft YaHei"/>
              </a:rPr>
              <a:t>2. Rodés-Cabau J, et al. Management of Conduction Disturbances Associated With TAVR. J Am Coll Cardiol. 2019;74(8):1086-1106.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B222B"/>
                </a:solidFill>
                <a:latin typeface="Microsoft YaHei"/>
              </a:rPr>
              <a:t>3. Marchetti M, et al. Development and validation of the D-PACE scoring system to predict delayed high-grade conduction disturbances after TAVI. EuroIntervention. 2024.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B222B"/>
                </a:solidFill>
                <a:latin typeface="Microsoft YaHei"/>
              </a:rPr>
              <a:t>4. Kiani S, et al. Development of a Risk Score to Predict New Pacemaker Implantation After TAVR (Emory Risk Score). JACC Cardiovasc Interv. 2019;12(21):2133-2142.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B222B"/>
                </a:solidFill>
                <a:latin typeface="Microsoft YaHei"/>
              </a:rPr>
              <a:t>5. New-Onset RBBB After TAVR: Incidence and Outcomes. Circ Arrhythm Electrophysiol. 2024 (CIRCEP.123.012377).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B222B"/>
                </a:solidFill>
                <a:latin typeface="Microsoft YaHei"/>
              </a:rPr>
              <a:t>6. New-Onset RBBB After TAVR: Incidence and Risk Factors for PPI (7 Israeli centers). PMID 40767801.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B222B"/>
                </a:solidFill>
                <a:latin typeface="Microsoft YaHei"/>
              </a:rPr>
              <a:t>7. Evaluation and Management of Heart Block After TAVR. Cardiac Failure Review (CFR). 2021.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B222B"/>
                </a:solidFill>
                <a:latin typeface="Microsoft YaHei"/>
              </a:rPr>
              <a:t>8. Managing heart block after TAVI: monitoring, device selection and pacemaker indications. EuroIntervention.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B222B"/>
                </a:solidFill>
                <a:latin typeface="Microsoft YaHei"/>
              </a:rPr>
              <a:t>9. A Systematic Review of Delayed High-Grade AV Block After TAVI. (PMC10994975).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B222B"/>
                </a:solidFill>
                <a:latin typeface="Microsoft YaHei"/>
              </a:rPr>
              <a:t>10. Glikson M, et al. 2021 ESC Guidelines on cardiac pacing and cardiac resynchronization therapy. Eur Heart J. 2021.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B222B"/>
                </a:solidFill>
                <a:latin typeface="Microsoft YaHei"/>
              </a:rPr>
              <a:t>11. Jorgensen TH, et al. Immediate post-procedural 12-lead ECG as predictor of late conduction defects after TAVR. JACC Cardiovasc Interv. 2018;11.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B222B"/>
                </a:solidFill>
                <a:latin typeface="Microsoft YaHei"/>
              </a:rPr>
              <a:t>12. Emory Risk Score validation. CJC Open 2022; J Interv Cardiol 2020;1807909.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686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Microsoft YaHei"/>
              </a:rPr>
              <a:t>TAVR 围术期心电评估与起搏器管理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F6B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9E9E"/>
                </a:solidFill>
                <a:latin typeface="Microsoft YaHei"/>
              </a:rPr>
              <a:t>免责声明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FFFFF"/>
                </a:solidFill>
                <a:latin typeface="Microsoft YaHei"/>
              </a:rPr>
              <a:t>本幻灯片为文献证据的教学性汇总，数据来自公开发表的指南、专家共识与队列研究，各研究在定义、瓣膜类型与随访时长上存在异质性。具体临床决策须结合患者个体情况、所在中心方案与最新指南，由具备资质的医师判断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686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Microsoft YaHei"/>
              </a:rPr>
              <a:t>TAVR 围术期心电评估与起搏器管理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F6B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